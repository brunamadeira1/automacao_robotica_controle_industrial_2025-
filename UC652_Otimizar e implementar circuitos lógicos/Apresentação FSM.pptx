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7" r:id="rId6"/>
    <p:sldId id="281" r:id="rId7"/>
    <p:sldId id="315" r:id="rId8"/>
    <p:sldId id="282" r:id="rId9"/>
    <p:sldId id="314" r:id="rId10"/>
    <p:sldId id="316" r:id="rId11"/>
    <p:sldId id="297" r:id="rId12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94E76B"/>
    <a:srgbClr val="DF8C8C"/>
    <a:srgbClr val="202C8F"/>
    <a:srgbClr val="FDFBF6"/>
    <a:srgbClr val="AAC4E9"/>
    <a:srgbClr val="F5CDCE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>
        <p:scale>
          <a:sx n="70" d="100"/>
          <a:sy n="70" d="100"/>
        </p:scale>
        <p:origin x="738" y="-24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E5191D-B8EA-423D-8879-21821AF6F6A2}" type="doc">
      <dgm:prSet loTypeId="urn:microsoft.com/office/officeart/2005/8/layout/cycle2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8CFBE1DA-C457-4F8F-AD3E-255D55BB963A}">
      <dgm:prSet phldrT="[Texto]" phldr="0"/>
      <dgm:spPr/>
      <dgm:t>
        <a:bodyPr/>
        <a:lstStyle/>
        <a:p>
          <a:r>
            <a:rPr lang="pt-BR" b="0" i="0" dirty="0"/>
            <a:t>Entrada: </a:t>
          </a:r>
          <a:br>
            <a:rPr lang="pt-BR" b="0" i="0" dirty="0"/>
          </a:br>
          <a:r>
            <a:rPr lang="pt-BR" b="0" i="0" dirty="0"/>
            <a:t>O usuário aperta um botão.</a:t>
          </a:r>
          <a:endParaRPr lang="pt-BR" dirty="0"/>
        </a:p>
      </dgm:t>
    </dgm:pt>
    <dgm:pt modelId="{21C52171-ADDD-481B-800D-715DC2D668EB}" type="parTrans" cxnId="{63C0D82D-D963-4E78-92D8-C0D97D5DBA29}">
      <dgm:prSet/>
      <dgm:spPr/>
      <dgm:t>
        <a:bodyPr/>
        <a:lstStyle/>
        <a:p>
          <a:endParaRPr lang="pt-BR"/>
        </a:p>
      </dgm:t>
    </dgm:pt>
    <dgm:pt modelId="{F25BADD1-B411-4969-A26A-B529C02A3F3A}" type="sibTrans" cxnId="{63C0D82D-D963-4E78-92D8-C0D97D5DBA29}">
      <dgm:prSet/>
      <dgm:spPr/>
      <dgm:t>
        <a:bodyPr/>
        <a:lstStyle/>
        <a:p>
          <a:endParaRPr lang="pt-BR"/>
        </a:p>
      </dgm:t>
    </dgm:pt>
    <dgm:pt modelId="{82E0944A-50E0-4800-8610-936B003C5BE2}">
      <dgm:prSet phldrT="[Texto]" phldr="0"/>
      <dgm:spPr/>
      <dgm:t>
        <a:bodyPr/>
        <a:lstStyle/>
        <a:p>
          <a:r>
            <a:rPr lang="pt-BR" b="0" i="0"/>
            <a:t>Lógica: </a:t>
          </a:r>
          <a:br>
            <a:rPr lang="pt-BR" b="0" i="0"/>
          </a:br>
          <a:r>
            <a:rPr lang="pt-BR" b="0" i="0"/>
            <a:t>O sistema checa: "Onde estou agora? Posso ir para onde me pediram?".</a:t>
          </a:r>
          <a:endParaRPr lang="pt-BR" dirty="0"/>
        </a:p>
      </dgm:t>
    </dgm:pt>
    <dgm:pt modelId="{7F911D1B-6FB5-4DD8-A8D4-E7C5FC0CCCA4}" type="parTrans" cxnId="{75C4CE32-7815-4B6A-BDE3-195EC034FC15}">
      <dgm:prSet/>
      <dgm:spPr/>
      <dgm:t>
        <a:bodyPr/>
        <a:lstStyle/>
        <a:p>
          <a:endParaRPr lang="pt-BR"/>
        </a:p>
      </dgm:t>
    </dgm:pt>
    <dgm:pt modelId="{C41B2CBC-6355-43A7-B2D8-AD333F595811}" type="sibTrans" cxnId="{75C4CE32-7815-4B6A-BDE3-195EC034FC15}">
      <dgm:prSet/>
      <dgm:spPr/>
      <dgm:t>
        <a:bodyPr/>
        <a:lstStyle/>
        <a:p>
          <a:endParaRPr lang="pt-BR"/>
        </a:p>
      </dgm:t>
    </dgm:pt>
    <dgm:pt modelId="{59C18A57-1BC2-43EE-9435-52EC3BB81E4D}">
      <dgm:prSet phldrT="[Texto]" phldr="0"/>
      <dgm:spPr/>
      <dgm:t>
        <a:bodyPr/>
        <a:lstStyle/>
        <a:p>
          <a:r>
            <a:rPr lang="pt-BR" b="0" i="0"/>
            <a:t>Mudança: </a:t>
          </a:r>
          <a:br>
            <a:rPr lang="pt-BR" b="0" i="0"/>
          </a:br>
          <a:r>
            <a:rPr lang="pt-BR" b="0" i="0"/>
            <a:t>O sistema pula para o novo estado.</a:t>
          </a:r>
          <a:endParaRPr lang="pt-BR" dirty="0"/>
        </a:p>
      </dgm:t>
    </dgm:pt>
    <dgm:pt modelId="{DD3DB06A-435C-4432-8AB9-A65A67D6404A}" type="parTrans" cxnId="{AD208DD7-4A4D-45D3-B57B-19F6E905DDE8}">
      <dgm:prSet/>
      <dgm:spPr/>
      <dgm:t>
        <a:bodyPr/>
        <a:lstStyle/>
        <a:p>
          <a:endParaRPr lang="pt-BR"/>
        </a:p>
      </dgm:t>
    </dgm:pt>
    <dgm:pt modelId="{BBD4A6D3-96BA-40F3-BA63-357514B54994}" type="sibTrans" cxnId="{AD208DD7-4A4D-45D3-B57B-19F6E905DDE8}">
      <dgm:prSet/>
      <dgm:spPr/>
      <dgm:t>
        <a:bodyPr/>
        <a:lstStyle/>
        <a:p>
          <a:endParaRPr lang="pt-BR"/>
        </a:p>
      </dgm:t>
    </dgm:pt>
    <dgm:pt modelId="{0415A924-B31B-47CE-A1F9-C0BD2EE1253B}">
      <dgm:prSet phldrT="[Texto]" phldr="0"/>
      <dgm:spPr/>
      <dgm:t>
        <a:bodyPr/>
        <a:lstStyle/>
        <a:p>
          <a:r>
            <a:rPr lang="pt-BR" b="0" i="0" dirty="0"/>
            <a:t>Saída : </a:t>
          </a:r>
          <a:br>
            <a:rPr lang="pt-BR" b="0" i="0" dirty="0"/>
          </a:br>
          <a:r>
            <a:rPr lang="pt-BR" b="0" i="0" dirty="0"/>
            <a:t>Assim que chega no novo estado, o sistema executa a ação programada para aquele lugar.</a:t>
          </a:r>
          <a:endParaRPr lang="pt-BR" dirty="0"/>
        </a:p>
      </dgm:t>
    </dgm:pt>
    <dgm:pt modelId="{18B946AD-0BA9-4C48-949B-A6C6A95DD9C8}" type="parTrans" cxnId="{06E919C3-220B-49FE-8087-F9FA2808D49D}">
      <dgm:prSet/>
      <dgm:spPr/>
      <dgm:t>
        <a:bodyPr/>
        <a:lstStyle/>
        <a:p>
          <a:endParaRPr lang="pt-BR"/>
        </a:p>
      </dgm:t>
    </dgm:pt>
    <dgm:pt modelId="{D85B8069-3494-4836-848C-09DC284FA847}" type="sibTrans" cxnId="{06E919C3-220B-49FE-8087-F9FA2808D49D}">
      <dgm:prSet/>
      <dgm:spPr/>
      <dgm:t>
        <a:bodyPr/>
        <a:lstStyle/>
        <a:p>
          <a:endParaRPr lang="pt-BR"/>
        </a:p>
      </dgm:t>
    </dgm:pt>
    <dgm:pt modelId="{BBADF9DB-A53E-4649-8F13-500E54501E46}" type="pres">
      <dgm:prSet presAssocID="{36E5191D-B8EA-423D-8879-21821AF6F6A2}" presName="cycle" presStyleCnt="0">
        <dgm:presLayoutVars>
          <dgm:dir/>
          <dgm:resizeHandles val="exact"/>
        </dgm:presLayoutVars>
      </dgm:prSet>
      <dgm:spPr/>
    </dgm:pt>
    <dgm:pt modelId="{74216E4F-DA01-4260-8D7B-724682F37203}" type="pres">
      <dgm:prSet presAssocID="{8CFBE1DA-C457-4F8F-AD3E-255D55BB963A}" presName="node" presStyleLbl="node1" presStyleIdx="0" presStyleCnt="4">
        <dgm:presLayoutVars>
          <dgm:bulletEnabled val="1"/>
        </dgm:presLayoutVars>
      </dgm:prSet>
      <dgm:spPr/>
    </dgm:pt>
    <dgm:pt modelId="{7685844D-D369-4F4D-925A-DD1B2A55D612}" type="pres">
      <dgm:prSet presAssocID="{F25BADD1-B411-4969-A26A-B529C02A3F3A}" presName="sibTrans" presStyleLbl="sibTrans2D1" presStyleIdx="0" presStyleCnt="4"/>
      <dgm:spPr/>
    </dgm:pt>
    <dgm:pt modelId="{28B26F95-0C5A-425E-BB7C-C2A0C0217EC7}" type="pres">
      <dgm:prSet presAssocID="{F25BADD1-B411-4969-A26A-B529C02A3F3A}" presName="connectorText" presStyleLbl="sibTrans2D1" presStyleIdx="0" presStyleCnt="4"/>
      <dgm:spPr/>
    </dgm:pt>
    <dgm:pt modelId="{77A0F7DF-BC92-40DC-8A9E-1CF2EF9CF26B}" type="pres">
      <dgm:prSet presAssocID="{82E0944A-50E0-4800-8610-936B003C5BE2}" presName="node" presStyleLbl="node1" presStyleIdx="1" presStyleCnt="4">
        <dgm:presLayoutVars>
          <dgm:bulletEnabled val="1"/>
        </dgm:presLayoutVars>
      </dgm:prSet>
      <dgm:spPr/>
    </dgm:pt>
    <dgm:pt modelId="{A0D4B791-5B2A-452C-8063-2965754C9023}" type="pres">
      <dgm:prSet presAssocID="{C41B2CBC-6355-43A7-B2D8-AD333F595811}" presName="sibTrans" presStyleLbl="sibTrans2D1" presStyleIdx="1" presStyleCnt="4"/>
      <dgm:spPr/>
    </dgm:pt>
    <dgm:pt modelId="{9ADEEB6E-B470-46BD-BD9E-A4D424DAE250}" type="pres">
      <dgm:prSet presAssocID="{C41B2CBC-6355-43A7-B2D8-AD333F595811}" presName="connectorText" presStyleLbl="sibTrans2D1" presStyleIdx="1" presStyleCnt="4"/>
      <dgm:spPr/>
    </dgm:pt>
    <dgm:pt modelId="{A5A1355C-824F-4CF9-8F44-4DF7EF2F0175}" type="pres">
      <dgm:prSet presAssocID="{59C18A57-1BC2-43EE-9435-52EC3BB81E4D}" presName="node" presStyleLbl="node1" presStyleIdx="2" presStyleCnt="4">
        <dgm:presLayoutVars>
          <dgm:bulletEnabled val="1"/>
        </dgm:presLayoutVars>
      </dgm:prSet>
      <dgm:spPr/>
    </dgm:pt>
    <dgm:pt modelId="{2B13CA4F-7B9E-46E2-B67E-10612CFDCEAA}" type="pres">
      <dgm:prSet presAssocID="{BBD4A6D3-96BA-40F3-BA63-357514B54994}" presName="sibTrans" presStyleLbl="sibTrans2D1" presStyleIdx="2" presStyleCnt="4"/>
      <dgm:spPr/>
    </dgm:pt>
    <dgm:pt modelId="{6603700F-0F73-45FA-AE38-17AFE1974B9F}" type="pres">
      <dgm:prSet presAssocID="{BBD4A6D3-96BA-40F3-BA63-357514B54994}" presName="connectorText" presStyleLbl="sibTrans2D1" presStyleIdx="2" presStyleCnt="4"/>
      <dgm:spPr/>
    </dgm:pt>
    <dgm:pt modelId="{558D1999-7AB0-4970-B9C3-8F96485F6C3B}" type="pres">
      <dgm:prSet presAssocID="{0415A924-B31B-47CE-A1F9-C0BD2EE1253B}" presName="node" presStyleLbl="node1" presStyleIdx="3" presStyleCnt="4">
        <dgm:presLayoutVars>
          <dgm:bulletEnabled val="1"/>
        </dgm:presLayoutVars>
      </dgm:prSet>
      <dgm:spPr/>
    </dgm:pt>
    <dgm:pt modelId="{A721EF15-7C9C-477A-82E7-0FE0F3481E47}" type="pres">
      <dgm:prSet presAssocID="{D85B8069-3494-4836-848C-09DC284FA847}" presName="sibTrans" presStyleLbl="sibTrans2D1" presStyleIdx="3" presStyleCnt="4"/>
      <dgm:spPr/>
    </dgm:pt>
    <dgm:pt modelId="{E49AE8DC-1A4B-4C5B-A646-A2E9A805BA3B}" type="pres">
      <dgm:prSet presAssocID="{D85B8069-3494-4836-848C-09DC284FA847}" presName="connectorText" presStyleLbl="sibTrans2D1" presStyleIdx="3" presStyleCnt="4"/>
      <dgm:spPr/>
    </dgm:pt>
  </dgm:ptLst>
  <dgm:cxnLst>
    <dgm:cxn modelId="{6CFD041D-E362-4076-9116-D8B13F5E5389}" type="presOf" srcId="{82E0944A-50E0-4800-8610-936B003C5BE2}" destId="{77A0F7DF-BC92-40DC-8A9E-1CF2EF9CF26B}" srcOrd="0" destOrd="0" presId="urn:microsoft.com/office/officeart/2005/8/layout/cycle2"/>
    <dgm:cxn modelId="{63C0D82D-D963-4E78-92D8-C0D97D5DBA29}" srcId="{36E5191D-B8EA-423D-8879-21821AF6F6A2}" destId="{8CFBE1DA-C457-4F8F-AD3E-255D55BB963A}" srcOrd="0" destOrd="0" parTransId="{21C52171-ADDD-481B-800D-715DC2D668EB}" sibTransId="{F25BADD1-B411-4969-A26A-B529C02A3F3A}"/>
    <dgm:cxn modelId="{75C4CE32-7815-4B6A-BDE3-195EC034FC15}" srcId="{36E5191D-B8EA-423D-8879-21821AF6F6A2}" destId="{82E0944A-50E0-4800-8610-936B003C5BE2}" srcOrd="1" destOrd="0" parTransId="{7F911D1B-6FB5-4DD8-A8D4-E7C5FC0CCCA4}" sibTransId="{C41B2CBC-6355-43A7-B2D8-AD333F595811}"/>
    <dgm:cxn modelId="{B47D993E-EBCA-4AFD-9B47-466EED6DD164}" type="presOf" srcId="{F25BADD1-B411-4969-A26A-B529C02A3F3A}" destId="{28B26F95-0C5A-425E-BB7C-C2A0C0217EC7}" srcOrd="1" destOrd="0" presId="urn:microsoft.com/office/officeart/2005/8/layout/cycle2"/>
    <dgm:cxn modelId="{066FC369-68F2-4785-90B8-C456B27878C7}" type="presOf" srcId="{C41B2CBC-6355-43A7-B2D8-AD333F595811}" destId="{A0D4B791-5B2A-452C-8063-2965754C9023}" srcOrd="0" destOrd="0" presId="urn:microsoft.com/office/officeart/2005/8/layout/cycle2"/>
    <dgm:cxn modelId="{FBF73C56-A804-494B-86FE-EA9C3E30813F}" type="presOf" srcId="{BBD4A6D3-96BA-40F3-BA63-357514B54994}" destId="{6603700F-0F73-45FA-AE38-17AFE1974B9F}" srcOrd="1" destOrd="0" presId="urn:microsoft.com/office/officeart/2005/8/layout/cycle2"/>
    <dgm:cxn modelId="{B130597F-2B0C-4E33-BF12-5F6F01B710D4}" type="presOf" srcId="{C41B2CBC-6355-43A7-B2D8-AD333F595811}" destId="{9ADEEB6E-B470-46BD-BD9E-A4D424DAE250}" srcOrd="1" destOrd="0" presId="urn:microsoft.com/office/officeart/2005/8/layout/cycle2"/>
    <dgm:cxn modelId="{58AFFDAA-0594-44BF-B8C2-10B30646D907}" type="presOf" srcId="{F25BADD1-B411-4969-A26A-B529C02A3F3A}" destId="{7685844D-D369-4F4D-925A-DD1B2A55D612}" srcOrd="0" destOrd="0" presId="urn:microsoft.com/office/officeart/2005/8/layout/cycle2"/>
    <dgm:cxn modelId="{06E919C3-220B-49FE-8087-F9FA2808D49D}" srcId="{36E5191D-B8EA-423D-8879-21821AF6F6A2}" destId="{0415A924-B31B-47CE-A1F9-C0BD2EE1253B}" srcOrd="3" destOrd="0" parTransId="{18B946AD-0BA9-4C48-949B-A6C6A95DD9C8}" sibTransId="{D85B8069-3494-4836-848C-09DC284FA847}"/>
    <dgm:cxn modelId="{290705C9-73B9-4749-AD1B-0CA1C92862FA}" type="presOf" srcId="{0415A924-B31B-47CE-A1F9-C0BD2EE1253B}" destId="{558D1999-7AB0-4970-B9C3-8F96485F6C3B}" srcOrd="0" destOrd="0" presId="urn:microsoft.com/office/officeart/2005/8/layout/cycle2"/>
    <dgm:cxn modelId="{360465D3-F695-4D57-BDD5-CB324141BAE6}" type="presOf" srcId="{59C18A57-1BC2-43EE-9435-52EC3BB81E4D}" destId="{A5A1355C-824F-4CF9-8F44-4DF7EF2F0175}" srcOrd="0" destOrd="0" presId="urn:microsoft.com/office/officeart/2005/8/layout/cycle2"/>
    <dgm:cxn modelId="{AD208DD7-4A4D-45D3-B57B-19F6E905DDE8}" srcId="{36E5191D-B8EA-423D-8879-21821AF6F6A2}" destId="{59C18A57-1BC2-43EE-9435-52EC3BB81E4D}" srcOrd="2" destOrd="0" parTransId="{DD3DB06A-435C-4432-8AB9-A65A67D6404A}" sibTransId="{BBD4A6D3-96BA-40F3-BA63-357514B54994}"/>
    <dgm:cxn modelId="{BD9380E0-12B5-4F33-81C2-430246659998}" type="presOf" srcId="{8CFBE1DA-C457-4F8F-AD3E-255D55BB963A}" destId="{74216E4F-DA01-4260-8D7B-724682F37203}" srcOrd="0" destOrd="0" presId="urn:microsoft.com/office/officeart/2005/8/layout/cycle2"/>
    <dgm:cxn modelId="{585043E2-81A2-44CD-AFE2-DC6C045F582D}" type="presOf" srcId="{D85B8069-3494-4836-848C-09DC284FA847}" destId="{E49AE8DC-1A4B-4C5B-A646-A2E9A805BA3B}" srcOrd="1" destOrd="0" presId="urn:microsoft.com/office/officeart/2005/8/layout/cycle2"/>
    <dgm:cxn modelId="{BFB2CCEF-3D0C-4BF1-B5FF-DD6529E2FF64}" type="presOf" srcId="{36E5191D-B8EA-423D-8879-21821AF6F6A2}" destId="{BBADF9DB-A53E-4649-8F13-500E54501E46}" srcOrd="0" destOrd="0" presId="urn:microsoft.com/office/officeart/2005/8/layout/cycle2"/>
    <dgm:cxn modelId="{B04ACBF9-0A6F-447C-B9F6-55C6C2E717A3}" type="presOf" srcId="{D85B8069-3494-4836-848C-09DC284FA847}" destId="{A721EF15-7C9C-477A-82E7-0FE0F3481E47}" srcOrd="0" destOrd="0" presId="urn:microsoft.com/office/officeart/2005/8/layout/cycle2"/>
    <dgm:cxn modelId="{E98F20FF-E385-41FC-B4A3-5410EF251364}" type="presOf" srcId="{BBD4A6D3-96BA-40F3-BA63-357514B54994}" destId="{2B13CA4F-7B9E-46E2-B67E-10612CFDCEAA}" srcOrd="0" destOrd="0" presId="urn:microsoft.com/office/officeart/2005/8/layout/cycle2"/>
    <dgm:cxn modelId="{A1373398-C8C3-4829-A031-4FF0C12745EA}" type="presParOf" srcId="{BBADF9DB-A53E-4649-8F13-500E54501E46}" destId="{74216E4F-DA01-4260-8D7B-724682F37203}" srcOrd="0" destOrd="0" presId="urn:microsoft.com/office/officeart/2005/8/layout/cycle2"/>
    <dgm:cxn modelId="{ED4676C8-DA8B-4595-AF8A-B662818C8CA6}" type="presParOf" srcId="{BBADF9DB-A53E-4649-8F13-500E54501E46}" destId="{7685844D-D369-4F4D-925A-DD1B2A55D612}" srcOrd="1" destOrd="0" presId="urn:microsoft.com/office/officeart/2005/8/layout/cycle2"/>
    <dgm:cxn modelId="{96009942-F74E-49D7-93DF-1CB3DF5354F4}" type="presParOf" srcId="{7685844D-D369-4F4D-925A-DD1B2A55D612}" destId="{28B26F95-0C5A-425E-BB7C-C2A0C0217EC7}" srcOrd="0" destOrd="0" presId="urn:microsoft.com/office/officeart/2005/8/layout/cycle2"/>
    <dgm:cxn modelId="{265ABC98-843E-4D61-9179-99DB41493086}" type="presParOf" srcId="{BBADF9DB-A53E-4649-8F13-500E54501E46}" destId="{77A0F7DF-BC92-40DC-8A9E-1CF2EF9CF26B}" srcOrd="2" destOrd="0" presId="urn:microsoft.com/office/officeart/2005/8/layout/cycle2"/>
    <dgm:cxn modelId="{9FF3F144-AF3B-4D1A-895F-91985F52FB7A}" type="presParOf" srcId="{BBADF9DB-A53E-4649-8F13-500E54501E46}" destId="{A0D4B791-5B2A-452C-8063-2965754C9023}" srcOrd="3" destOrd="0" presId="urn:microsoft.com/office/officeart/2005/8/layout/cycle2"/>
    <dgm:cxn modelId="{47529CA6-70D3-4512-A3C4-273F3B6EDB2F}" type="presParOf" srcId="{A0D4B791-5B2A-452C-8063-2965754C9023}" destId="{9ADEEB6E-B470-46BD-BD9E-A4D424DAE250}" srcOrd="0" destOrd="0" presId="urn:microsoft.com/office/officeart/2005/8/layout/cycle2"/>
    <dgm:cxn modelId="{376CEAF8-30AE-4F68-A6FB-E5C5E1108752}" type="presParOf" srcId="{BBADF9DB-A53E-4649-8F13-500E54501E46}" destId="{A5A1355C-824F-4CF9-8F44-4DF7EF2F0175}" srcOrd="4" destOrd="0" presId="urn:microsoft.com/office/officeart/2005/8/layout/cycle2"/>
    <dgm:cxn modelId="{2FA6D43A-EFFF-4904-96B8-983F1132B0BE}" type="presParOf" srcId="{BBADF9DB-A53E-4649-8F13-500E54501E46}" destId="{2B13CA4F-7B9E-46E2-B67E-10612CFDCEAA}" srcOrd="5" destOrd="0" presId="urn:microsoft.com/office/officeart/2005/8/layout/cycle2"/>
    <dgm:cxn modelId="{59664715-4AA6-4E41-9B44-DE20573DA829}" type="presParOf" srcId="{2B13CA4F-7B9E-46E2-B67E-10612CFDCEAA}" destId="{6603700F-0F73-45FA-AE38-17AFE1974B9F}" srcOrd="0" destOrd="0" presId="urn:microsoft.com/office/officeart/2005/8/layout/cycle2"/>
    <dgm:cxn modelId="{F78364D6-D031-4DBE-9445-3FE2DB520E9E}" type="presParOf" srcId="{BBADF9DB-A53E-4649-8F13-500E54501E46}" destId="{558D1999-7AB0-4970-B9C3-8F96485F6C3B}" srcOrd="6" destOrd="0" presId="urn:microsoft.com/office/officeart/2005/8/layout/cycle2"/>
    <dgm:cxn modelId="{40B37956-9B38-41AE-9ABA-4DBAB4B83657}" type="presParOf" srcId="{BBADF9DB-A53E-4649-8F13-500E54501E46}" destId="{A721EF15-7C9C-477A-82E7-0FE0F3481E47}" srcOrd="7" destOrd="0" presId="urn:microsoft.com/office/officeart/2005/8/layout/cycle2"/>
    <dgm:cxn modelId="{17B3BB9A-80B4-4411-ADE6-FF46A866E480}" type="presParOf" srcId="{A721EF15-7C9C-477A-82E7-0FE0F3481E47}" destId="{E49AE8DC-1A4B-4C5B-A646-A2E9A805BA3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16E4F-DA01-4260-8D7B-724682F37203}">
      <dsp:nvSpPr>
        <dsp:cNvPr id="0" name=""/>
        <dsp:cNvSpPr/>
      </dsp:nvSpPr>
      <dsp:spPr>
        <a:xfrm>
          <a:off x="3431189" y="1735"/>
          <a:ext cx="2193131" cy="21931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Entrada: </a:t>
          </a:r>
          <a:br>
            <a:rPr lang="pt-BR" sz="1500" b="0" i="0" kern="1200" dirty="0"/>
          </a:br>
          <a:r>
            <a:rPr lang="pt-BR" sz="1500" b="0" i="0" kern="1200" dirty="0"/>
            <a:t>O usuário aperta um botão.</a:t>
          </a:r>
          <a:endParaRPr lang="pt-BR" sz="1500" kern="1200" dirty="0"/>
        </a:p>
      </dsp:txBody>
      <dsp:txXfrm>
        <a:off x="3752366" y="322912"/>
        <a:ext cx="1550777" cy="1550777"/>
      </dsp:txXfrm>
    </dsp:sp>
    <dsp:sp modelId="{7685844D-D369-4F4D-925A-DD1B2A55D612}">
      <dsp:nvSpPr>
        <dsp:cNvPr id="0" name=""/>
        <dsp:cNvSpPr/>
      </dsp:nvSpPr>
      <dsp:spPr>
        <a:xfrm rot="2700000">
          <a:off x="5389117" y="1881860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5414800" y="1967892"/>
        <a:ext cx="409203" cy="444109"/>
      </dsp:txXfrm>
    </dsp:sp>
    <dsp:sp modelId="{77A0F7DF-BC92-40DC-8A9E-1CF2EF9CF26B}">
      <dsp:nvSpPr>
        <dsp:cNvPr id="0" name=""/>
        <dsp:cNvSpPr/>
      </dsp:nvSpPr>
      <dsp:spPr>
        <a:xfrm>
          <a:off x="5761888" y="2332434"/>
          <a:ext cx="2193131" cy="219313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/>
            <a:t>Lógica: </a:t>
          </a:r>
          <a:br>
            <a:rPr lang="pt-BR" sz="1500" b="0" i="0" kern="1200"/>
          </a:br>
          <a:r>
            <a:rPr lang="pt-BR" sz="1500" b="0" i="0" kern="1200"/>
            <a:t>O sistema checa: "Onde estou agora? Posso ir para onde me pediram?".</a:t>
          </a:r>
          <a:endParaRPr lang="pt-BR" sz="1500" kern="1200" dirty="0"/>
        </a:p>
      </dsp:txBody>
      <dsp:txXfrm>
        <a:off x="6083065" y="2653611"/>
        <a:ext cx="1550777" cy="1550777"/>
      </dsp:txXfrm>
    </dsp:sp>
    <dsp:sp modelId="{A0D4B791-5B2A-452C-8063-2965754C9023}">
      <dsp:nvSpPr>
        <dsp:cNvPr id="0" name=""/>
        <dsp:cNvSpPr/>
      </dsp:nvSpPr>
      <dsp:spPr>
        <a:xfrm rot="8100000">
          <a:off x="5412515" y="4212559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 rot="10800000">
        <a:off x="5562205" y="4298591"/>
        <a:ext cx="409203" cy="444109"/>
      </dsp:txXfrm>
    </dsp:sp>
    <dsp:sp modelId="{A5A1355C-824F-4CF9-8F44-4DF7EF2F0175}">
      <dsp:nvSpPr>
        <dsp:cNvPr id="0" name=""/>
        <dsp:cNvSpPr/>
      </dsp:nvSpPr>
      <dsp:spPr>
        <a:xfrm>
          <a:off x="3431189" y="4663133"/>
          <a:ext cx="2193131" cy="21931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/>
            <a:t>Mudança: </a:t>
          </a:r>
          <a:br>
            <a:rPr lang="pt-BR" sz="1500" b="0" i="0" kern="1200"/>
          </a:br>
          <a:r>
            <a:rPr lang="pt-BR" sz="1500" b="0" i="0" kern="1200"/>
            <a:t>O sistema pula para o novo estado.</a:t>
          </a:r>
          <a:endParaRPr lang="pt-BR" sz="1500" kern="1200" dirty="0"/>
        </a:p>
      </dsp:txBody>
      <dsp:txXfrm>
        <a:off x="3752366" y="4984310"/>
        <a:ext cx="1550777" cy="1550777"/>
      </dsp:txXfrm>
    </dsp:sp>
    <dsp:sp modelId="{2B13CA4F-7B9E-46E2-B67E-10612CFDCEAA}">
      <dsp:nvSpPr>
        <dsp:cNvPr id="0" name=""/>
        <dsp:cNvSpPr/>
      </dsp:nvSpPr>
      <dsp:spPr>
        <a:xfrm rot="13500000">
          <a:off x="3081815" y="4235957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 rot="10800000">
        <a:off x="3231505" y="4445997"/>
        <a:ext cx="409203" cy="444109"/>
      </dsp:txXfrm>
    </dsp:sp>
    <dsp:sp modelId="{558D1999-7AB0-4970-B9C3-8F96485F6C3B}">
      <dsp:nvSpPr>
        <dsp:cNvPr id="0" name=""/>
        <dsp:cNvSpPr/>
      </dsp:nvSpPr>
      <dsp:spPr>
        <a:xfrm>
          <a:off x="1100490" y="2332434"/>
          <a:ext cx="2193131" cy="21931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Saída : </a:t>
          </a:r>
          <a:br>
            <a:rPr lang="pt-BR" sz="1500" b="0" i="0" kern="1200" dirty="0"/>
          </a:br>
          <a:r>
            <a:rPr lang="pt-BR" sz="1500" b="0" i="0" kern="1200" dirty="0"/>
            <a:t>Assim que chega no novo estado, o sistema executa a ação programada para aquele lugar.</a:t>
          </a:r>
          <a:endParaRPr lang="pt-BR" sz="1500" kern="1200" dirty="0"/>
        </a:p>
      </dsp:txBody>
      <dsp:txXfrm>
        <a:off x="1421667" y="2653611"/>
        <a:ext cx="1550777" cy="1550777"/>
      </dsp:txXfrm>
    </dsp:sp>
    <dsp:sp modelId="{A721EF15-7C9C-477A-82E7-0FE0F3481E47}">
      <dsp:nvSpPr>
        <dsp:cNvPr id="0" name=""/>
        <dsp:cNvSpPr/>
      </dsp:nvSpPr>
      <dsp:spPr>
        <a:xfrm rot="18900000">
          <a:off x="3058418" y="1905258"/>
          <a:ext cx="584576" cy="7401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/>
        </a:p>
      </dsp:txBody>
      <dsp:txXfrm>
        <a:off x="3084101" y="2115298"/>
        <a:ext cx="409203" cy="444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75525-40BC-A272-8F6B-0C0B4E30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0F3622B-98CF-687B-262D-8636070EE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931AB06-1762-E664-565C-64AEB2453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3034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810227"/>
            <a:ext cx="824484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 err="1">
                <a:latin typeface="+mn-lt"/>
              </a:rPr>
              <a:t>Finite</a:t>
            </a:r>
            <a:r>
              <a:rPr lang="pt-BR" dirty="0">
                <a:latin typeface="+mn-lt"/>
              </a:rPr>
              <a:t> </a:t>
            </a:r>
            <a:r>
              <a:rPr lang="pt-BR" dirty="0" err="1">
                <a:latin typeface="+mn-lt"/>
              </a:rPr>
              <a:t>State</a:t>
            </a:r>
            <a:r>
              <a:rPr lang="pt-BR" dirty="0">
                <a:latin typeface="+mn-lt"/>
              </a:rPr>
              <a:t> Machine</a:t>
            </a:r>
            <a:br>
              <a:rPr lang="pt-BR" dirty="0">
                <a:latin typeface="+mn-lt"/>
              </a:rPr>
            </a:br>
            <a:r>
              <a:rPr lang="pt-BR" dirty="0">
                <a:latin typeface="+mn-lt"/>
              </a:rPr>
              <a:t>(FSM)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F17E5B-F318-63C0-212E-73697708D9ED}"/>
              </a:ext>
            </a:extLst>
          </p:cNvPr>
          <p:cNvSpPr txBox="1"/>
          <p:nvPr/>
        </p:nvSpPr>
        <p:spPr>
          <a:xfrm>
            <a:off x="1793583" y="5563896"/>
            <a:ext cx="8467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Téc. Esp. Em Automação, Robótica e Controle Industrial 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Bruna Madeira 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751" y="2094528"/>
            <a:ext cx="9246053" cy="2039493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sz="3200" b="0" cap="none" dirty="0">
                <a:latin typeface="Arial Rounded MT Bold" panose="020F0704030504030204" pitchFamily="34" charset="0"/>
              </a:rPr>
              <a:t>FINITE STATE MACHINE (FSM) é um modelo matemático usado para representar sistemas que:</a:t>
            </a:r>
            <a:br>
              <a:rPr lang="pt-BR" sz="2800" b="0" cap="none" dirty="0">
                <a:latin typeface="Arial Rounded MT Bold" panose="020F0704030504030204" pitchFamily="34" charset="0"/>
              </a:rPr>
            </a:br>
            <a:endParaRPr lang="pt-BR" b="0" cap="none" dirty="0">
              <a:latin typeface="Arial Rounded MT Bold" panose="020F0704030504030204" pitchFamily="34" charset="0"/>
              <a:ea typeface="Artifakt Element" panose="020B05030500000200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7BE864C-07F9-735A-18E1-4175FAE3C51B}"/>
              </a:ext>
            </a:extLst>
          </p:cNvPr>
          <p:cNvSpPr txBox="1"/>
          <p:nvPr/>
        </p:nvSpPr>
        <p:spPr>
          <a:xfrm>
            <a:off x="1376226" y="3530303"/>
            <a:ext cx="9246053" cy="186645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Possuem um número finito de estados;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Mudam de estado com base em entradas;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Podem gerar saídas.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08428BC4-F3C9-1D1C-19B2-E7ACA4DB9571}"/>
              </a:ext>
            </a:extLst>
          </p:cNvPr>
          <p:cNvSpPr txBox="1"/>
          <p:nvPr/>
        </p:nvSpPr>
        <p:spPr>
          <a:xfrm>
            <a:off x="433112" y="2689604"/>
            <a:ext cx="5906728" cy="186645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600" b="1" dirty="0"/>
              <a:t>Elementos fundamentais de uma FSM</a:t>
            </a:r>
          </a:p>
          <a:p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Estados (States)</a:t>
            </a:r>
            <a:br>
              <a:rPr lang="pt-BR" sz="2000" dirty="0"/>
            </a:br>
            <a:r>
              <a:rPr lang="pt-BR" sz="2000" dirty="0"/>
              <a:t>Representam as possíveis condições ou situações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Entradas (Inputs)</a:t>
            </a:r>
            <a:br>
              <a:rPr lang="pt-BR" sz="2000" dirty="0"/>
            </a:br>
            <a:r>
              <a:rPr lang="pt-BR" sz="2000" dirty="0"/>
              <a:t>Eventos ou sinais que influenciam o comportamento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Transições (</a:t>
            </a:r>
            <a:r>
              <a:rPr lang="pt-BR" sz="2000" b="1" dirty="0" err="1">
                <a:solidFill>
                  <a:schemeClr val="accent1"/>
                </a:solidFill>
              </a:rPr>
              <a:t>Transitions</a:t>
            </a:r>
            <a:r>
              <a:rPr lang="pt-BR" sz="2000" b="1" dirty="0">
                <a:solidFill>
                  <a:schemeClr val="accent1"/>
                </a:solidFill>
              </a:rPr>
              <a:t>)</a:t>
            </a:r>
            <a:br>
              <a:rPr lang="pt-BR" sz="2000" dirty="0"/>
            </a:br>
            <a:r>
              <a:rPr lang="pt-BR" sz="2000" dirty="0"/>
              <a:t>Regras que definem a mudança de um estado para outro.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Saídas (Outputs)</a:t>
            </a:r>
            <a:br>
              <a:rPr lang="pt-BR" sz="2000" dirty="0"/>
            </a:br>
            <a:r>
              <a:rPr lang="pt-BR" sz="2000" dirty="0"/>
              <a:t>Respostas geradas pelo sistema (dependem do tipo de FSM).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Estado inicial (</a:t>
            </a:r>
            <a:r>
              <a:rPr lang="pt-BR" sz="2000" b="1" dirty="0" err="1">
                <a:solidFill>
                  <a:schemeClr val="accent1"/>
                </a:solidFill>
              </a:rPr>
              <a:t>Initial</a:t>
            </a:r>
            <a:r>
              <a:rPr lang="pt-BR" sz="2000" b="1" dirty="0">
                <a:solidFill>
                  <a:schemeClr val="accent1"/>
                </a:solidFill>
              </a:rPr>
              <a:t> </a:t>
            </a:r>
            <a:r>
              <a:rPr lang="pt-BR" sz="2000" b="1" dirty="0" err="1">
                <a:solidFill>
                  <a:schemeClr val="accent1"/>
                </a:solidFill>
              </a:rPr>
              <a:t>State</a:t>
            </a:r>
            <a:r>
              <a:rPr lang="pt-BR" sz="2000" b="1" dirty="0">
                <a:solidFill>
                  <a:schemeClr val="accent1"/>
                </a:solidFill>
              </a:rPr>
              <a:t>)</a:t>
            </a:r>
            <a:br>
              <a:rPr lang="pt-BR" sz="2000" dirty="0"/>
            </a:br>
            <a:r>
              <a:rPr lang="pt-BR" sz="2000" dirty="0"/>
              <a:t>Estado onde o sistema começa a operar.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D6403E7-47E2-1381-8749-275677CD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82"/>
          <a:stretch>
            <a:fillRect/>
          </a:stretch>
        </p:blipFill>
        <p:spPr>
          <a:xfrm>
            <a:off x="6233160" y="590071"/>
            <a:ext cx="5662888" cy="600884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EC23BA0-4B70-9415-6999-850A49CF16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9" r="17928" b="-729"/>
          <a:stretch>
            <a:fillRect/>
          </a:stretch>
        </p:blipFill>
        <p:spPr>
          <a:xfrm>
            <a:off x="6832714" y="3232300"/>
            <a:ext cx="555337" cy="39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810E296C-FAA6-DAF4-CEFB-5C7AF8C652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0265806"/>
              </p:ext>
            </p:extLst>
          </p:nvPr>
        </p:nvGraphicFramePr>
        <p:xfrm>
          <a:off x="0" y="0"/>
          <a:ext cx="905551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2C1A9D-57A9-2A64-2BEC-9AA75518A9A1}"/>
              </a:ext>
            </a:extLst>
          </p:cNvPr>
          <p:cNvSpPr txBox="1"/>
          <p:nvPr/>
        </p:nvSpPr>
        <p:spPr>
          <a:xfrm>
            <a:off x="9748587" y="2746848"/>
            <a:ext cx="6093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>
                <a:solidFill>
                  <a:schemeClr val="accent3"/>
                </a:solidFill>
              </a:rPr>
              <a:t>Moore</a:t>
            </a:r>
            <a:endParaRPr lang="pt-BR" sz="2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BA0B4B7A-37AC-7B69-6DF1-62D120EC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751" y="-195767"/>
            <a:ext cx="9246053" cy="983952"/>
          </a:xfrm>
        </p:spPr>
        <p:txBody>
          <a:bodyPr rtlCol="0"/>
          <a:lstStyle>
            <a:defPPr>
              <a:defRPr lang="pt-BR"/>
            </a:defPPr>
          </a:lstStyle>
          <a:p>
            <a:pPr algn="ctr"/>
            <a:r>
              <a:rPr lang="pt-BR" b="0" cap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Entendendo o Modelo de Moore</a:t>
            </a:r>
            <a:endParaRPr lang="pt-BR" sz="4000" b="0" cap="none" dirty="0">
              <a:solidFill>
                <a:schemeClr val="accent4">
                  <a:lumMod val="60000"/>
                  <a:lumOff val="40000"/>
                </a:schemeClr>
              </a:solidFill>
              <a:latin typeface="Arial Rounded MT Bold" panose="020F0704030504030204" pitchFamily="34" charset="0"/>
              <a:ea typeface="Artifakt Element" panose="020B05030500000200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9D62FC0-264E-B8EC-7D9D-28AC92E64044}"/>
              </a:ext>
            </a:extLst>
          </p:cNvPr>
          <p:cNvSpPr txBox="1"/>
          <p:nvPr/>
        </p:nvSpPr>
        <p:spPr>
          <a:xfrm>
            <a:off x="3825240" y="941292"/>
            <a:ext cx="7791423" cy="186645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DF8C8C"/>
                </a:solidFill>
              </a:rPr>
              <a:t>A ação do sistema depende exclusivamente do </a:t>
            </a:r>
            <a:r>
              <a:rPr lang="pt-BR" sz="2000" u="sng" dirty="0">
                <a:solidFill>
                  <a:srgbClr val="DF8C8C"/>
                </a:solidFill>
              </a:rPr>
              <a:t>estado atual </a:t>
            </a:r>
            <a:r>
              <a:rPr lang="pt-BR" sz="2000" dirty="0">
                <a:solidFill>
                  <a:srgbClr val="DF8C8C"/>
                </a:solidFill>
              </a:rPr>
              <a:t>e não da entrada direta.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DF8C8C"/>
                </a:solidFill>
              </a:rPr>
              <a:t>Comandos externos (botões) servem apenas como gatilhos para mudar de estado, a saída só muda após a transição ser concluída.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DF8C8C"/>
                </a:solidFill>
              </a:rPr>
              <a:t>Por ser "travado" no estado, o sistema ignora ruídos ou erros rápidos de entrada, garantindo maior segurança.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DC33FE5-80FC-E2F3-FF1E-D01CCA10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7" t="31334" r="15778" b="18000"/>
          <a:stretch>
            <a:fillRect/>
          </a:stretch>
        </p:blipFill>
        <p:spPr>
          <a:xfrm>
            <a:off x="4069871" y="3139440"/>
            <a:ext cx="688769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617686A-18CD-72AA-08B2-402F345B8795}"/>
              </a:ext>
            </a:extLst>
          </p:cNvPr>
          <p:cNvSpPr txBox="1">
            <a:spLocks/>
          </p:cNvSpPr>
          <p:nvPr/>
        </p:nvSpPr>
        <p:spPr>
          <a:xfrm>
            <a:off x="2728751" y="-195767"/>
            <a:ext cx="9246053" cy="98395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0" cap="none" dirty="0">
                <a:solidFill>
                  <a:srgbClr val="92D050"/>
                </a:solidFill>
                <a:latin typeface="Arial Rounded MT Bold" panose="020F0704030504030204" pitchFamily="34" charset="0"/>
              </a:rPr>
              <a:t>As Vantagens do Design de Moore</a:t>
            </a:r>
            <a:endParaRPr lang="pt-BR" sz="4000" b="0" cap="none" dirty="0">
              <a:solidFill>
                <a:srgbClr val="92D050"/>
              </a:solidFill>
              <a:latin typeface="Arial Rounded MT Bold" panose="020F0704030504030204" pitchFamily="34" charset="0"/>
              <a:ea typeface="Artifakt Element" panose="020B05030500000200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AEF48E-748A-42EB-0ABF-7E198672835F}"/>
              </a:ext>
            </a:extLst>
          </p:cNvPr>
          <p:cNvSpPr txBox="1"/>
          <p:nvPr/>
        </p:nvSpPr>
        <p:spPr>
          <a:xfrm>
            <a:off x="3825240" y="341298"/>
            <a:ext cx="7791423" cy="4301268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92D050"/>
                </a:solidFill>
              </a:rPr>
              <a:t>Simplicidade Visual: </a:t>
            </a:r>
            <a:r>
              <a:rPr lang="pt-BR" sz="2000" dirty="0">
                <a:solidFill>
                  <a:srgbClr val="00B0F0"/>
                </a:solidFill>
              </a:rPr>
              <a:t>É muito fácil olhar para o diagrama e saber o que o sistema está fazendo em cada etapa.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92D050"/>
                </a:solidFill>
              </a:rPr>
              <a:t>Sincronia Perfeita: </a:t>
            </a:r>
            <a:r>
              <a:rPr lang="pt-BR" sz="2000" dirty="0">
                <a:solidFill>
                  <a:srgbClr val="00B0F0"/>
                </a:solidFill>
              </a:rPr>
              <a:t>Em eletrônica, a saída de Moore muda exatamente junto com o "pulso" do sistema (o </a:t>
            </a:r>
            <a:r>
              <a:rPr lang="pt-BR" sz="2000" dirty="0" err="1">
                <a:solidFill>
                  <a:srgbClr val="00B0F0"/>
                </a:solidFill>
              </a:rPr>
              <a:t>clock</a:t>
            </a:r>
            <a:r>
              <a:rPr lang="pt-BR" sz="2000" dirty="0">
                <a:solidFill>
                  <a:srgbClr val="00B0F0"/>
                </a:solidFill>
              </a:rPr>
              <a:t>). Isso evita que o visor do elevador dê uma "piscada" errada entre os andares.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92D050"/>
                </a:solidFill>
              </a:rPr>
              <a:t>Segurança: </a:t>
            </a:r>
            <a:r>
              <a:rPr lang="pt-BR" sz="2000" dirty="0">
                <a:solidFill>
                  <a:srgbClr val="00B0F0"/>
                </a:solidFill>
              </a:rPr>
              <a:t>Ideal para sistemas onde a saída não pode oscilar (como abrir a porta de um cofre ou acender o sinal verde de um cruzamento).</a:t>
            </a:r>
          </a:p>
        </p:txBody>
      </p:sp>
      <p:pic>
        <p:nvPicPr>
          <p:cNvPr id="18" name="Gráfico 17" descr="Semáforo">
            <a:extLst>
              <a:ext uri="{FF2B5EF4-FFF2-40B4-BE49-F238E27FC236}">
                <a16:creationId xmlns:a16="http://schemas.microsoft.com/office/drawing/2014/main" id="{B40C0EE5-60EB-7FA8-4982-DD744ACEB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755" y="3933388"/>
            <a:ext cx="2802691" cy="280269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BBFE2F-70D0-3879-A515-09076B1ACA6D}"/>
              </a:ext>
            </a:extLst>
          </p:cNvPr>
          <p:cNvSpPr txBox="1"/>
          <p:nvPr/>
        </p:nvSpPr>
        <p:spPr>
          <a:xfrm>
            <a:off x="7444023" y="4457900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00B050"/>
                </a:solidFill>
              </a:rPr>
              <a:t>S0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6BB0ADD-F94A-D83C-DA8F-89A55DE48EF2}"/>
              </a:ext>
            </a:extLst>
          </p:cNvPr>
          <p:cNvSpPr txBox="1"/>
          <p:nvPr/>
        </p:nvSpPr>
        <p:spPr>
          <a:xfrm>
            <a:off x="7444023" y="5112265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S1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3556117-EE23-284B-4620-84607B587204}"/>
              </a:ext>
            </a:extLst>
          </p:cNvPr>
          <p:cNvSpPr txBox="1"/>
          <p:nvPr/>
        </p:nvSpPr>
        <p:spPr>
          <a:xfrm>
            <a:off x="7430753" y="573726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S2</a:t>
            </a:r>
          </a:p>
        </p:txBody>
      </p:sp>
      <p:pic>
        <p:nvPicPr>
          <p:cNvPr id="25" name="Gráfico 24" descr="Seta de linha: curva no sentido horário">
            <a:extLst>
              <a:ext uri="{FF2B5EF4-FFF2-40B4-BE49-F238E27FC236}">
                <a16:creationId xmlns:a16="http://schemas.microsoft.com/office/drawing/2014/main" id="{C13BE5B6-47A0-B7B4-FCBB-02822F362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471093">
            <a:off x="8701586" y="4499441"/>
            <a:ext cx="710482" cy="710482"/>
          </a:xfrm>
          <a:prstGeom prst="rect">
            <a:avLst/>
          </a:prstGeom>
        </p:spPr>
      </p:pic>
      <p:pic>
        <p:nvPicPr>
          <p:cNvPr id="26" name="Gráfico 25" descr="Seta de linha: curva no sentido horário">
            <a:extLst>
              <a:ext uri="{FF2B5EF4-FFF2-40B4-BE49-F238E27FC236}">
                <a16:creationId xmlns:a16="http://schemas.microsoft.com/office/drawing/2014/main" id="{022097BC-5351-F644-9ABB-335D6A1AA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471093">
            <a:off x="8747204" y="5331963"/>
            <a:ext cx="710482" cy="710482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D6B30445-05B4-AA29-61ED-47F403EBBA0C}"/>
              </a:ext>
            </a:extLst>
          </p:cNvPr>
          <p:cNvSpPr txBox="1"/>
          <p:nvPr/>
        </p:nvSpPr>
        <p:spPr>
          <a:xfrm>
            <a:off x="9352460" y="4630623"/>
            <a:ext cx="146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ighlight>
                  <a:srgbClr val="94E76B"/>
                </a:highlight>
              </a:rPr>
              <a:t>20s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2F223D1-26A6-C8CF-D5AA-D889ED80E586}"/>
              </a:ext>
            </a:extLst>
          </p:cNvPr>
          <p:cNvSpPr txBox="1"/>
          <p:nvPr/>
        </p:nvSpPr>
        <p:spPr>
          <a:xfrm>
            <a:off x="9310490" y="5543442"/>
            <a:ext cx="1049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ighlight>
                  <a:srgbClr val="FFFF66"/>
                </a:highlight>
              </a:rPr>
              <a:t>5s</a:t>
            </a:r>
          </a:p>
        </p:txBody>
      </p:sp>
      <p:pic>
        <p:nvPicPr>
          <p:cNvPr id="29" name="Gráfico 28" descr="Seta de linha: curva no sentido horário">
            <a:extLst>
              <a:ext uri="{FF2B5EF4-FFF2-40B4-BE49-F238E27FC236}">
                <a16:creationId xmlns:a16="http://schemas.microsoft.com/office/drawing/2014/main" id="{41DBEC35-0217-98E1-5C93-48CEE23A28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93045">
            <a:off x="5658920" y="4480456"/>
            <a:ext cx="1453391" cy="1453391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E6C9BDFA-FEE4-AB25-A463-146CB685F6A1}"/>
              </a:ext>
            </a:extLst>
          </p:cNvPr>
          <p:cNvSpPr txBox="1"/>
          <p:nvPr/>
        </p:nvSpPr>
        <p:spPr>
          <a:xfrm>
            <a:off x="5222958" y="5054144"/>
            <a:ext cx="951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ighlight>
                  <a:srgbClr val="FF0000"/>
                </a:highlight>
              </a:rPr>
              <a:t>25s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04CC-39D1-67F4-608A-3F04EB51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9A88550-8165-BFA2-49BB-036C9F7CE0BE}"/>
              </a:ext>
            </a:extLst>
          </p:cNvPr>
          <p:cNvSpPr txBox="1"/>
          <p:nvPr/>
        </p:nvSpPr>
        <p:spPr>
          <a:xfrm>
            <a:off x="151632" y="668525"/>
            <a:ext cx="8671560" cy="2453640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pt-BR"/>
            </a:defPPr>
            <a:lvl1pPr defTabSz="914400">
              <a:lnSpc>
                <a:spcPct val="100000"/>
              </a:lnSpc>
              <a:spcBef>
                <a:spcPct val="0"/>
              </a:spcBef>
              <a:buNone/>
              <a:defRPr sz="2800" b="0" cap="none" baseline="0">
                <a:solidFill>
                  <a:schemeClr val="accent6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pPr algn="just"/>
            <a:r>
              <a:rPr lang="pt-BR" sz="2000" dirty="0"/>
              <a:t>Este projeto consiste num </a:t>
            </a:r>
            <a:r>
              <a:rPr lang="pt-BR" sz="2000" b="1" dirty="0"/>
              <a:t>sistema de rega inteligente</a:t>
            </a:r>
            <a:r>
              <a:rPr lang="pt-BR" sz="2000" dirty="0"/>
              <a:t> desenhado para otimizar o consumo de água e proteger o equipamento de bombagem.</a:t>
            </a:r>
          </a:p>
          <a:p>
            <a:pPr algn="just"/>
            <a:r>
              <a:rPr lang="pt-BR" sz="2000" dirty="0"/>
              <a:t>O sistema monitoriza o estado do solo e a disponibilidade de água através de dois sensores: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Sensor de Humidade:</a:t>
            </a:r>
            <a:r>
              <a:rPr lang="pt-BR" sz="2000" dirty="0"/>
              <a:t> Para </a:t>
            </a:r>
            <a:r>
              <a:rPr lang="pt-BR" sz="2000" dirty="0" err="1"/>
              <a:t>detetar</a:t>
            </a:r>
            <a:r>
              <a:rPr lang="pt-BR" sz="2000" dirty="0"/>
              <a:t> a necessidade de rega.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Sensor de Nível:</a:t>
            </a:r>
            <a:r>
              <a:rPr lang="pt-BR" sz="2000" dirty="0"/>
              <a:t> Para garantir que o reservatório tem água.</a:t>
            </a:r>
          </a:p>
          <a:p>
            <a:pPr algn="just"/>
            <a:r>
              <a:rPr lang="pt-BR" sz="2000" dirty="0"/>
              <a:t>O objetivo é converter estas leituras físicas num </a:t>
            </a:r>
            <a:r>
              <a:rPr lang="pt-BR" sz="2000" b="1" dirty="0"/>
              <a:t>Modelo de Moore</a:t>
            </a:r>
            <a:r>
              <a:rPr lang="pt-BR" sz="2000" dirty="0"/>
              <a:t>, assegurando que a bomba apenas é acionada na condição ideal: </a:t>
            </a:r>
            <a:r>
              <a:rPr lang="pt-BR" sz="2000" b="1" dirty="0"/>
              <a:t>solo seco e depósito com água</a:t>
            </a:r>
            <a:r>
              <a:rPr lang="pt-BR" sz="2000" dirty="0"/>
              <a:t>. </a:t>
            </a:r>
            <a:endParaRPr lang="pt-BR" sz="2000" dirty="0">
              <a:solidFill>
                <a:srgbClr val="DF8C8C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A45B44F-17FB-4A43-048D-19530518B005}"/>
              </a:ext>
            </a:extLst>
          </p:cNvPr>
          <p:cNvSpPr/>
          <p:nvPr/>
        </p:nvSpPr>
        <p:spPr>
          <a:xfrm>
            <a:off x="390046" y="4605154"/>
            <a:ext cx="1554480" cy="1413672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S0</a:t>
            </a:r>
          </a:p>
          <a:p>
            <a:pPr algn="ctr"/>
            <a:r>
              <a:rPr lang="pt-BR" dirty="0"/>
              <a:t>-----------</a:t>
            </a:r>
          </a:p>
          <a:p>
            <a:pPr algn="ctr"/>
            <a:r>
              <a:rPr lang="pt-BR" dirty="0"/>
              <a:t>(0)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8ED1E2C5-917B-22C6-80E6-66656CCFBB98}"/>
              </a:ext>
            </a:extLst>
          </p:cNvPr>
          <p:cNvSpPr/>
          <p:nvPr/>
        </p:nvSpPr>
        <p:spPr>
          <a:xfrm>
            <a:off x="3864766" y="4605154"/>
            <a:ext cx="1554480" cy="1413672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S1</a:t>
            </a:r>
          </a:p>
          <a:p>
            <a:pPr algn="ctr"/>
            <a:r>
              <a:rPr lang="pt-BR" dirty="0"/>
              <a:t>-----------</a:t>
            </a:r>
          </a:p>
          <a:p>
            <a:pPr algn="ctr"/>
            <a:r>
              <a:rPr lang="pt-BR" dirty="0"/>
              <a:t>(1)</a:t>
            </a:r>
          </a:p>
        </p:txBody>
      </p:sp>
      <p:pic>
        <p:nvPicPr>
          <p:cNvPr id="4" name="Gráfico 3" descr="Seta de linha: girar para a direita">
            <a:extLst>
              <a:ext uri="{FF2B5EF4-FFF2-40B4-BE49-F238E27FC236}">
                <a16:creationId xmlns:a16="http://schemas.microsoft.com/office/drawing/2014/main" id="{8F2A36D5-5A89-79F2-C270-9A38A6838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146" y="3999109"/>
            <a:ext cx="914400" cy="914400"/>
          </a:xfrm>
          <a:prstGeom prst="rect">
            <a:avLst/>
          </a:prstGeom>
        </p:spPr>
      </p:pic>
      <p:pic>
        <p:nvPicPr>
          <p:cNvPr id="5" name="Gráfico 4" descr="Seta de linha: girar para a direita">
            <a:extLst>
              <a:ext uri="{FF2B5EF4-FFF2-40B4-BE49-F238E27FC236}">
                <a16:creationId xmlns:a16="http://schemas.microsoft.com/office/drawing/2014/main" id="{6BF159F3-FD96-8F49-1DDD-50C260592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355839">
            <a:off x="4589971" y="4101475"/>
            <a:ext cx="914400" cy="914400"/>
          </a:xfrm>
          <a:prstGeom prst="rect">
            <a:avLst/>
          </a:prstGeom>
        </p:spPr>
      </p:pic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A4D150D8-6DA0-0F83-8AA4-BBD36B6AE039}"/>
              </a:ext>
            </a:extLst>
          </p:cNvPr>
          <p:cNvCxnSpPr>
            <a:cxnSpLocks/>
            <a:stCxn id="7" idx="7"/>
            <a:endCxn id="2" idx="1"/>
          </p:cNvCxnSpPr>
          <p:nvPr/>
        </p:nvCxnSpPr>
        <p:spPr>
          <a:xfrm rot="5400000" flipH="1" flipV="1">
            <a:off x="2904646" y="3624413"/>
            <a:ext cx="12700" cy="2375536"/>
          </a:xfrm>
          <a:prstGeom prst="curvedConnector3">
            <a:avLst>
              <a:gd name="adj1" fmla="val 3790134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o 29">
            <a:extLst>
              <a:ext uri="{FF2B5EF4-FFF2-40B4-BE49-F238E27FC236}">
                <a16:creationId xmlns:a16="http://schemas.microsoft.com/office/drawing/2014/main" id="{D7090D50-3DC9-D63F-EEAE-52463835DC1B}"/>
              </a:ext>
            </a:extLst>
          </p:cNvPr>
          <p:cNvCxnSpPr>
            <a:cxnSpLocks/>
          </p:cNvCxnSpPr>
          <p:nvPr/>
        </p:nvCxnSpPr>
        <p:spPr>
          <a:xfrm rot="5400000">
            <a:off x="2904646" y="4624031"/>
            <a:ext cx="12700" cy="2375536"/>
          </a:xfrm>
          <a:prstGeom prst="curvedConnector3">
            <a:avLst>
              <a:gd name="adj1" fmla="val 343013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7BAB0F7-0BBA-6F20-E4AF-2D5F724A472A}"/>
              </a:ext>
            </a:extLst>
          </p:cNvPr>
          <p:cNvSpPr txBox="1"/>
          <p:nvPr/>
        </p:nvSpPr>
        <p:spPr>
          <a:xfrm>
            <a:off x="468605" y="3730668"/>
            <a:ext cx="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00,10,11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CB2B74C-3AA0-B57A-55C4-35113FAF753A}"/>
              </a:ext>
            </a:extLst>
          </p:cNvPr>
          <p:cNvSpPr txBox="1"/>
          <p:nvPr/>
        </p:nvSpPr>
        <p:spPr>
          <a:xfrm>
            <a:off x="4772481" y="3883068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453AC50-8AE5-E419-26D2-8F33A11021C4}"/>
              </a:ext>
            </a:extLst>
          </p:cNvPr>
          <p:cNvSpPr txBox="1"/>
          <p:nvPr/>
        </p:nvSpPr>
        <p:spPr>
          <a:xfrm>
            <a:off x="2703247" y="3943040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01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214C7A5-2A6C-8158-6C78-99390089AAD1}"/>
              </a:ext>
            </a:extLst>
          </p:cNvPr>
          <p:cNvSpPr txBox="1"/>
          <p:nvPr/>
        </p:nvSpPr>
        <p:spPr>
          <a:xfrm>
            <a:off x="2672767" y="6396680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10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6A33A86-2DD1-3EFE-A5F3-294B5FFECC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43" t="24147" r="9677" b="28354"/>
          <a:stretch>
            <a:fillRect/>
          </a:stretch>
        </p:blipFill>
        <p:spPr>
          <a:xfrm>
            <a:off x="6019004" y="3429000"/>
            <a:ext cx="5773027" cy="32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03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5455919" cy="2727709"/>
          </a:xfr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</a:lstStyle>
          <a:p>
            <a:pPr algn="ctr"/>
            <a:r>
              <a:rPr lang="pt-BR" sz="6600" b="0" cap="none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{D83E944E-EA7A-4E80-9669-B0C5129FF4A6}TF8a9b5915-b8c7-461e-8cdd-693d48b5e323c6a6caed_win32-b6157470412c</Template>
  <TotalTime>353</TotalTime>
  <Words>474</Words>
  <Application>Microsoft Office PowerPoint</Application>
  <PresentationFormat>Widescreen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Rounded MT Bold</vt:lpstr>
      <vt:lpstr>Calibri</vt:lpstr>
      <vt:lpstr>Sabon Next LT</vt:lpstr>
      <vt:lpstr>Personalizado</vt:lpstr>
      <vt:lpstr>Finite State Machine (FSM)</vt:lpstr>
      <vt:lpstr>FINITE STATE MACHINE (FSM) é um modelo matemático usado para representar sistemas que: </vt:lpstr>
      <vt:lpstr>Apresentação do PowerPoint</vt:lpstr>
      <vt:lpstr>Apresentação do PowerPoint</vt:lpstr>
      <vt:lpstr>Entendendo o Modelo de Moore</vt:lpstr>
      <vt:lpstr>Apresentação do PowerPoint</vt:lpstr>
      <vt:lpstr>Apresentação do PowerPoint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Bruna Madeira</dc:creator>
  <cp:lastModifiedBy>Bruna Madeira</cp:lastModifiedBy>
  <cp:revision>25</cp:revision>
  <dcterms:created xsi:type="dcterms:W3CDTF">2026-02-18T16:29:25Z</dcterms:created>
  <dcterms:modified xsi:type="dcterms:W3CDTF">2026-02-20T20:48:12Z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