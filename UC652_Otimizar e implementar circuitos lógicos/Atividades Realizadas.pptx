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3" r:id="rId19"/>
    <p:sldId id="275" r:id="rId20"/>
    <p:sldId id="277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95785" y="1447800"/>
            <a:ext cx="10085696" cy="3329581"/>
          </a:xfrm>
        </p:spPr>
        <p:txBody>
          <a:bodyPr/>
          <a:lstStyle/>
          <a:p>
            <a:r>
              <a:rPr lang="pt-BR" dirty="0"/>
              <a:t>Atividades Realizadas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395785" y="4777380"/>
            <a:ext cx="9584828" cy="861420"/>
          </a:xfrm>
        </p:spPr>
        <p:txBody>
          <a:bodyPr>
            <a:normAutofit fontScale="92500" lnSpcReduction="10000"/>
          </a:bodyPr>
          <a:lstStyle/>
          <a:p>
            <a:r>
              <a:rPr lang="pt-BR" sz="2400" dirty="0"/>
              <a:t>T3 –Téc. Esp. Em Automação, robótica e controle industrial </a:t>
            </a:r>
          </a:p>
          <a:p>
            <a:r>
              <a:rPr lang="pt-BR" sz="2400" dirty="0"/>
              <a:t>Bruna Madeira </a:t>
            </a:r>
          </a:p>
        </p:txBody>
      </p:sp>
    </p:spTree>
    <p:extLst>
      <p:ext uri="{BB962C8B-B14F-4D97-AF65-F5344CB8AC3E}">
        <p14:creationId xmlns:p14="http://schemas.microsoft.com/office/powerpoint/2010/main" val="1321647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>
                <a:cs typeface="Arial" panose="020B0604020202020204" pitchFamily="34" charset="0"/>
              </a:rPr>
              <a:t>Exercício  1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548259" y="1183208"/>
            <a:ext cx="4852986" cy="576262"/>
          </a:xfrm>
        </p:spPr>
        <p:txBody>
          <a:bodyPr/>
          <a:lstStyle/>
          <a:p>
            <a:pPr algn="ctr"/>
            <a:r>
              <a:rPr lang="pt-BR" sz="2800" dirty="0">
                <a:cs typeface="Arial" panose="020B0604020202020204" pitchFamily="34" charset="0"/>
              </a:rPr>
              <a:t>Tabela da verdade </a:t>
            </a:r>
          </a:p>
        </p:txBody>
      </p:sp>
      <p:graphicFrame>
        <p:nvGraphicFramePr>
          <p:cNvPr id="13" name="Tabe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27789"/>
              </p:ext>
            </p:extLst>
          </p:nvPr>
        </p:nvGraphicFramePr>
        <p:xfrm>
          <a:off x="6919431" y="1759470"/>
          <a:ext cx="4110642" cy="13421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0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0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14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effectLst/>
                        </a:rPr>
                        <a:t>IC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effectLst/>
                        </a:rPr>
                        <a:t>FC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effectLst/>
                        </a:rPr>
                        <a:t>S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20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941372"/>
            <a:ext cx="6140452" cy="2016141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2000" dirty="0">
                <a:latin typeface="+mn-lt"/>
                <a:cs typeface="Arial" panose="020B0604020202020204" pitchFamily="34" charset="0"/>
              </a:rPr>
              <a:t>O exercício solicita que o motor (M) seja acionado quando a peça atinge o fim de curso (FC). Para a resolução do problema, foi elaborada a respectiva tabela da verdade, permitindo identificar a lógica necessária para o correto funcionamento do circuito.</a:t>
            </a:r>
            <a:endParaRPr lang="pt-BR" dirty="0">
              <a:latin typeface="+mn-lt"/>
            </a:endParaRPr>
          </a:p>
        </p:txBody>
      </p:sp>
      <p:pic>
        <p:nvPicPr>
          <p:cNvPr id="15" name="Espaço Reservado para Conteúdo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48259" y="4299888"/>
            <a:ext cx="4852987" cy="2228954"/>
          </a:xfrm>
          <a:prstGeom prst="rect">
            <a:avLst/>
          </a:prstGeom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46" y="4303157"/>
            <a:ext cx="4864198" cy="2225685"/>
          </a:xfrm>
          <a:prstGeom prst="rect">
            <a:avLst/>
          </a:prstGeom>
        </p:spPr>
      </p:pic>
      <p:sp>
        <p:nvSpPr>
          <p:cNvPr id="19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3642211" y="3415614"/>
            <a:ext cx="4852986" cy="576262"/>
          </a:xfrm>
        </p:spPr>
        <p:txBody>
          <a:bodyPr/>
          <a:lstStyle/>
          <a:p>
            <a:pPr algn="ctr"/>
            <a:r>
              <a:rPr lang="pt-BR" sz="3200" b="1" dirty="0">
                <a:latin typeface="+mn-lt"/>
              </a:rPr>
              <a:t>S= /IC*FC + IC*FC</a:t>
            </a:r>
          </a:p>
        </p:txBody>
      </p:sp>
    </p:spTree>
    <p:extLst>
      <p:ext uri="{BB962C8B-B14F-4D97-AF65-F5344CB8AC3E}">
        <p14:creationId xmlns:p14="http://schemas.microsoft.com/office/powerpoint/2010/main" val="132377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2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7338784" y="2446544"/>
            <a:ext cx="4364720" cy="576262"/>
          </a:xfrm>
        </p:spPr>
        <p:txBody>
          <a:bodyPr/>
          <a:lstStyle/>
          <a:p>
            <a:pPr algn="ctr"/>
            <a:r>
              <a:rPr lang="pt-BR" sz="2800" dirty="0"/>
              <a:t>Tabela da verdade 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1223308"/>
            <a:ext cx="11282031" cy="1636195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Quando o tanque se encontra com o Sensor de Vazio (SV) ativo, a válvula de enchimento (VE) é aberta e o motor da bomba (MB) é ligado. À medida que o nível da água sobe, o Sensor de Meio (SM) é ativado e, ao atingir o Sensor de Cheio (SC), o motor é desligado. Foram ainda consideradas situações de erro, nomeadamente: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217086"/>
              </p:ext>
            </p:extLst>
          </p:nvPr>
        </p:nvGraphicFramePr>
        <p:xfrm>
          <a:off x="7338784" y="3022806"/>
          <a:ext cx="4364719" cy="3473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2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43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5733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Input 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Output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Regra aplicada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46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SV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SM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SC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MB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E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Vazio (Liga)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Erro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Erro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Erro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Vazio 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Erro</a:t>
                      </a:r>
                      <a:endParaRPr lang="pt-BR" sz="1600" b="0" i="0" u="none" strike="noStrike" dirty="0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Meio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7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rgbClr val="C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u="none" strike="noStrike" dirty="0">
                          <a:effectLst/>
                        </a:rPr>
                        <a:t>Cheio (Desliga)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Espaço Reservado para Texto 2"/>
          <p:cNvSpPr>
            <a:spLocks noGrp="1"/>
          </p:cNvSpPr>
          <p:nvPr>
            <p:ph type="body" sz="quarter" idx="3"/>
          </p:nvPr>
        </p:nvSpPr>
        <p:spPr>
          <a:xfrm>
            <a:off x="488497" y="4577587"/>
            <a:ext cx="6383791" cy="8947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1800" b="1" dirty="0">
                <a:latin typeface="+mn-lt"/>
              </a:rPr>
              <a:t>MB = /SV*/SM*/SC+ SV*/(SM* SV)+SV*SM*/SC</a:t>
            </a:r>
          </a:p>
          <a:p>
            <a:pPr algn="ctr"/>
            <a:r>
              <a:rPr lang="pt-BR" sz="1800" b="1" dirty="0">
                <a:latin typeface="+mn-lt"/>
              </a:rPr>
              <a:t>E = /SV*/SM*SC + /SV*SM*/SC + /SV*SM*SC+ SV*/SM*SC</a:t>
            </a:r>
          </a:p>
        </p:txBody>
      </p:sp>
      <p:sp>
        <p:nvSpPr>
          <p:cNvPr id="1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989410" y="4001325"/>
            <a:ext cx="4852986" cy="576262"/>
          </a:xfrm>
        </p:spPr>
        <p:txBody>
          <a:bodyPr/>
          <a:lstStyle/>
          <a:p>
            <a:pPr algn="ctr"/>
            <a:r>
              <a:rPr lang="pt-BR" sz="4000" dirty="0">
                <a:solidFill>
                  <a:schemeClr val="tx1"/>
                </a:solidFill>
              </a:rPr>
              <a:t>Soluções: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654A7A-864F-CE61-6C56-41FF6E610D27}"/>
              </a:ext>
            </a:extLst>
          </p:cNvPr>
          <p:cNvSpPr txBox="1"/>
          <p:nvPr/>
        </p:nvSpPr>
        <p:spPr>
          <a:xfrm>
            <a:off x="989410" y="2546338"/>
            <a:ext cx="60936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SC </a:t>
            </a:r>
            <a:r>
              <a:rPr lang="pt-BR" sz="1600" dirty="0" err="1"/>
              <a:t>activo</a:t>
            </a:r>
            <a:r>
              <a:rPr lang="pt-BR" sz="1600" dirty="0"/>
              <a:t> com SV e SM desligados;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SM </a:t>
            </a:r>
            <a:r>
              <a:rPr lang="pt-BR" sz="1600" dirty="0" err="1"/>
              <a:t>activo</a:t>
            </a:r>
            <a:r>
              <a:rPr lang="pt-BR" sz="1600" dirty="0"/>
              <a:t> com SV e SC desligados;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SM e SC </a:t>
            </a:r>
            <a:r>
              <a:rPr lang="pt-BR" sz="1600" dirty="0" err="1"/>
              <a:t>activos</a:t>
            </a:r>
            <a:r>
              <a:rPr lang="pt-BR" sz="1600" dirty="0"/>
              <a:t> com SV desligado;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SV e SC </a:t>
            </a:r>
            <a:r>
              <a:rPr lang="pt-BR" sz="1600" dirty="0" err="1"/>
              <a:t>activos</a:t>
            </a:r>
            <a:r>
              <a:rPr lang="pt-BR" sz="1600" dirty="0"/>
              <a:t> com SM desligado.</a:t>
            </a:r>
          </a:p>
          <a:p>
            <a:pPr algn="just"/>
            <a:r>
              <a:rPr lang="pt-BR" sz="1600" dirty="0"/>
              <a:t>Estas condições representam estados inválidos do sistema.</a:t>
            </a:r>
          </a:p>
        </p:txBody>
      </p:sp>
    </p:spTree>
    <p:extLst>
      <p:ext uri="{BB962C8B-B14F-4D97-AF65-F5344CB8AC3E}">
        <p14:creationId xmlns:p14="http://schemas.microsoft.com/office/powerpoint/2010/main" val="2107559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2</a:t>
            </a:r>
          </a:p>
        </p:txBody>
      </p:sp>
      <p:sp>
        <p:nvSpPr>
          <p:cNvPr id="1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576632" y="3074076"/>
            <a:ext cx="4852986" cy="576262"/>
          </a:xfrm>
        </p:spPr>
        <p:txBody>
          <a:bodyPr/>
          <a:lstStyle/>
          <a:p>
            <a:pPr algn="ctr"/>
            <a:r>
              <a:rPr lang="pt-BR" sz="3200" dirty="0">
                <a:solidFill>
                  <a:schemeClr val="tx1"/>
                </a:solidFill>
              </a:rPr>
              <a:t>Solução Motor Bomba: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 rotWithShape="1">
          <a:blip r:embed="rId2"/>
          <a:srcRect t="7633"/>
          <a:stretch/>
        </p:blipFill>
        <p:spPr>
          <a:xfrm>
            <a:off x="277622" y="1337586"/>
            <a:ext cx="5992061" cy="4505187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sz="quarter" idx="3"/>
          </p:nvPr>
        </p:nvSpPr>
        <p:spPr>
          <a:xfrm>
            <a:off x="6269683" y="3247340"/>
            <a:ext cx="5922317" cy="112012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1600" b="1" dirty="0">
                <a:latin typeface="+mn-lt"/>
              </a:rPr>
              <a:t>MB = /SV*/SM*/SC+ SV*/(SM* SV)+SV*SM*/SC</a:t>
            </a:r>
          </a:p>
          <a:p>
            <a:pPr algn="ctr"/>
            <a:r>
              <a:rPr lang="pt-BR" sz="1600" b="1" dirty="0">
                <a:solidFill>
                  <a:schemeClr val="tx1"/>
                </a:solidFill>
                <a:latin typeface="+mn-lt"/>
              </a:rPr>
              <a:t>Solução simplificada: MB = /SC*SV + /SC*/SM + /SM*SV;</a:t>
            </a:r>
          </a:p>
        </p:txBody>
      </p:sp>
    </p:spTree>
    <p:extLst>
      <p:ext uri="{BB962C8B-B14F-4D97-AF65-F5344CB8AC3E}">
        <p14:creationId xmlns:p14="http://schemas.microsoft.com/office/powerpoint/2010/main" val="1841844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2</a:t>
            </a:r>
          </a:p>
        </p:txBody>
      </p:sp>
      <p:sp>
        <p:nvSpPr>
          <p:cNvPr id="1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576632" y="3074076"/>
            <a:ext cx="4852986" cy="57626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3200" dirty="0">
                <a:solidFill>
                  <a:schemeClr val="tx1"/>
                </a:solidFill>
              </a:rPr>
              <a:t>Solução Erro: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sz="quarter" idx="3"/>
          </p:nvPr>
        </p:nvSpPr>
        <p:spPr>
          <a:xfrm>
            <a:off x="6269683" y="3783312"/>
            <a:ext cx="5922317" cy="61349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1600" b="1" dirty="0">
                <a:latin typeface="+mn-lt"/>
              </a:rPr>
              <a:t>E = /SV*/SM*SC + /SV*SM*/SC + /SV*SM*SC+ SV*/SM*SC</a:t>
            </a:r>
          </a:p>
          <a:p>
            <a:pPr algn="ctr"/>
            <a:r>
              <a:rPr lang="pt-BR" sz="1600" b="1" dirty="0">
                <a:solidFill>
                  <a:schemeClr val="tx1"/>
                </a:solidFill>
                <a:latin typeface="+mn-lt"/>
              </a:rPr>
              <a:t>Solução simplificada: </a:t>
            </a:r>
            <a:r>
              <a:rPr lang="it-IT" sz="1600" b="1" dirty="0">
                <a:solidFill>
                  <a:schemeClr val="tx1"/>
                </a:solidFill>
                <a:latin typeface="+mn-lt"/>
              </a:rPr>
              <a:t>E = SC*/SM + SM*/SV.</a:t>
            </a:r>
            <a:endParaRPr lang="pt-BR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42" y="1416357"/>
            <a:ext cx="5993241" cy="450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3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46109" y="2191174"/>
            <a:ext cx="5449890" cy="576263"/>
          </a:xfrm>
        </p:spPr>
        <p:txBody>
          <a:bodyPr/>
          <a:lstStyle/>
          <a:p>
            <a:pPr algn="ctr"/>
            <a:r>
              <a:rPr lang="pt-BR" sz="2800" dirty="0"/>
              <a:t>Tabela da verdade 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1223309"/>
            <a:ext cx="11282031" cy="1162390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latin typeface="+mn-lt"/>
              </a:rPr>
              <a:t>Esta atividade é uma continuação do Exercício 2, tendo sido adicionada a Válvula 2 (V2).Nesta etapa, a válvula deve abrir sempre que o Sensor de Meio (SM) e o Sensor de Cheio (SC) estiverem simultaneamente ativos.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3"/>
          </p:nvPr>
        </p:nvSpPr>
        <p:spPr>
          <a:xfrm>
            <a:off x="6631378" y="3605899"/>
            <a:ext cx="5063282" cy="19056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2000" b="1" dirty="0">
                <a:latin typeface="+mn-lt"/>
              </a:rPr>
              <a:t>V2=SV*SM*SC+/(MB*E)</a:t>
            </a:r>
          </a:p>
          <a:p>
            <a:pPr algn="ctr"/>
            <a:r>
              <a:rPr lang="pt-BR" sz="2000" b="1" dirty="0">
                <a:latin typeface="+mn-lt"/>
              </a:rPr>
              <a:t>--------</a:t>
            </a:r>
          </a:p>
          <a:p>
            <a:pPr algn="ctr"/>
            <a:r>
              <a:rPr lang="it-IT" sz="2000" b="1" dirty="0">
                <a:latin typeface="+mn-lt"/>
              </a:rPr>
              <a:t>E = SC*/SM + SM*/SV</a:t>
            </a:r>
          </a:p>
          <a:p>
            <a:pPr algn="ctr"/>
            <a:r>
              <a:rPr lang="pt-BR" sz="2000" b="1" dirty="0">
                <a:latin typeface="+mn-lt"/>
              </a:rPr>
              <a:t>MB = /SC*SV + /SC*/SM + /SM*SV;</a:t>
            </a:r>
          </a:p>
        </p:txBody>
      </p:sp>
      <p:sp>
        <p:nvSpPr>
          <p:cNvPr id="1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631378" y="3029638"/>
            <a:ext cx="5063282" cy="576262"/>
          </a:xfrm>
        </p:spPr>
        <p:txBody>
          <a:bodyPr/>
          <a:lstStyle/>
          <a:p>
            <a:pPr algn="ctr"/>
            <a:r>
              <a:rPr lang="pt-BR" sz="4000" dirty="0">
                <a:solidFill>
                  <a:schemeClr val="tx1"/>
                </a:solidFill>
              </a:rPr>
              <a:t>Soluções: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231241"/>
              </p:ext>
            </p:extLst>
          </p:nvPr>
        </p:nvGraphicFramePr>
        <p:xfrm>
          <a:off x="646109" y="2870649"/>
          <a:ext cx="5449891" cy="33761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3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11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72">
                <a:tc gridSpan="3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 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</a:t>
                      </a: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Regra aplicada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41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V2</a:t>
                      </a: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72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Vazio (Liga)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72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72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72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72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Vazio 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72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Erro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72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Meio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1474"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b="1" u="none" strike="noStrike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BR" sz="1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Cheio (Desliga e Esvazia)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250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3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E5C2D64-82BF-4E3A-9334-01A9E3B60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41" y="1611388"/>
            <a:ext cx="12192000" cy="508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58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4 – Flip-Flop D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735196" y="1624112"/>
            <a:ext cx="2800350" cy="576262"/>
          </a:xfrm>
        </p:spPr>
        <p:txBody>
          <a:bodyPr/>
          <a:lstStyle/>
          <a:p>
            <a:pPr algn="ctr"/>
            <a:r>
              <a:rPr lang="pt-BR" sz="2000" b="1" dirty="0"/>
              <a:t>Tabela da verdade 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735196" y="955939"/>
            <a:ext cx="9226552" cy="719792"/>
          </a:xfrm>
        </p:spPr>
        <p:txBody>
          <a:bodyPr>
            <a:normAutofit/>
          </a:bodyPr>
          <a:lstStyle/>
          <a:p>
            <a:pPr algn="just"/>
            <a:r>
              <a:rPr lang="pt-BR" sz="2000" dirty="0">
                <a:latin typeface="+mn-lt"/>
              </a:rPr>
              <a:t>O </a:t>
            </a:r>
            <a:r>
              <a:rPr lang="pt-BR" sz="2000" b="1" dirty="0">
                <a:latin typeface="+mn-lt"/>
              </a:rPr>
              <a:t>flip-flop D</a:t>
            </a:r>
            <a:r>
              <a:rPr lang="pt-BR" sz="2000" dirty="0">
                <a:latin typeface="+mn-lt"/>
              </a:rPr>
              <a:t> armazena diretamente o valor presente na entrada D na próxima borda de </a:t>
            </a:r>
            <a:r>
              <a:rPr lang="pt-BR" sz="2000" dirty="0" err="1">
                <a:latin typeface="+mn-lt"/>
              </a:rPr>
              <a:t>clock</a:t>
            </a:r>
            <a:r>
              <a:rPr lang="pt-BR" sz="2000" dirty="0">
                <a:latin typeface="+mn-lt"/>
              </a:rPr>
              <a:t>. 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BC87905B-96EA-4CB1-9370-D884F6E4C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940730"/>
              </p:ext>
            </p:extLst>
          </p:nvPr>
        </p:nvGraphicFramePr>
        <p:xfrm>
          <a:off x="735196" y="2310543"/>
          <a:ext cx="2800350" cy="1529903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47537">
                  <a:extLst>
                    <a:ext uri="{9D8B030D-6E8A-4147-A177-3AD203B41FA5}">
                      <a16:colId xmlns:a16="http://schemas.microsoft.com/office/drawing/2014/main" val="1399840005"/>
                    </a:ext>
                  </a:extLst>
                </a:gridCol>
                <a:gridCol w="1452813">
                  <a:extLst>
                    <a:ext uri="{9D8B030D-6E8A-4147-A177-3AD203B41FA5}">
                      <a16:colId xmlns:a16="http://schemas.microsoft.com/office/drawing/2014/main" val="2486294489"/>
                    </a:ext>
                  </a:extLst>
                </a:gridCol>
              </a:tblGrid>
              <a:tr h="437516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Flip-Flop D (Data ou </a:t>
                      </a:r>
                      <a:r>
                        <a:rPr lang="pt-BR" sz="1600" dirty="0" err="1">
                          <a:effectLst/>
                        </a:rPr>
                        <a:t>Delay</a:t>
                      </a:r>
                      <a:r>
                        <a:rPr lang="pt-BR" sz="1600" dirty="0">
                          <a:effectLst/>
                        </a:rPr>
                        <a:t>)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615405"/>
                  </a:ext>
                </a:extLst>
              </a:tr>
              <a:tr h="3641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Input (D)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Output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5258088"/>
                  </a:ext>
                </a:extLst>
              </a:tr>
              <a:tr h="3641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898155057"/>
                  </a:ext>
                </a:extLst>
              </a:tr>
              <a:tr h="3641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0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915271346"/>
                  </a:ext>
                </a:extLst>
              </a:tr>
            </a:tbl>
          </a:graphicData>
        </a:graphic>
      </p:graphicFrame>
      <p:pic>
        <p:nvPicPr>
          <p:cNvPr id="18" name="Imagem 17">
            <a:extLst>
              <a:ext uri="{FF2B5EF4-FFF2-40B4-BE49-F238E27FC236}">
                <a16:creationId xmlns:a16="http://schemas.microsoft.com/office/drawing/2014/main" id="{C98451D4-E73B-4D67-87E3-50BC24438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25" y="2310543"/>
            <a:ext cx="7755679" cy="4205874"/>
          </a:xfrm>
          <a:prstGeom prst="rect">
            <a:avLst/>
          </a:prstGeom>
        </p:spPr>
      </p:pic>
      <p:pic>
        <p:nvPicPr>
          <p:cNvPr id="3" name="Imagem 2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B8739D2-870E-A1E3-704C-91956113C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96" y="3985939"/>
            <a:ext cx="2800350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54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5 – Flip-Flop RS 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46112" y="1565562"/>
            <a:ext cx="4436252" cy="57626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2000" b="1" dirty="0"/>
              <a:t>Tabela da verdade 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927032"/>
            <a:ext cx="9598027" cy="719792"/>
          </a:xfrm>
        </p:spPr>
        <p:txBody>
          <a:bodyPr>
            <a:normAutofit/>
          </a:bodyPr>
          <a:lstStyle/>
          <a:p>
            <a:pPr algn="just"/>
            <a:r>
              <a:rPr lang="pt-BR" sz="2000" dirty="0">
                <a:latin typeface="+mn-lt"/>
              </a:rPr>
              <a:t>O </a:t>
            </a:r>
            <a:r>
              <a:rPr lang="pt-BR" sz="2000" b="1" dirty="0">
                <a:latin typeface="+mn-lt"/>
              </a:rPr>
              <a:t>flip-flop RS </a:t>
            </a:r>
            <a:r>
              <a:rPr lang="pt-BR" sz="2000" dirty="0">
                <a:latin typeface="+mn-lt"/>
              </a:rPr>
              <a:t>é o modelo mais básico. Suas entradas controlam diretamente o estado armazenado.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6C67A0B-0B93-44B7-9D3E-167243FF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582" y="2154435"/>
            <a:ext cx="5664170" cy="4626000"/>
          </a:xfrm>
          <a:prstGeom prst="rect">
            <a:avLst/>
          </a:prstGeom>
        </p:spPr>
      </p:pic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D532295-D983-4B5C-85CB-5E061506C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369870"/>
              </p:ext>
            </p:extLst>
          </p:nvPr>
        </p:nvGraphicFramePr>
        <p:xfrm>
          <a:off x="646108" y="2154435"/>
          <a:ext cx="4436255" cy="256727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350474">
                  <a:extLst>
                    <a:ext uri="{9D8B030D-6E8A-4147-A177-3AD203B41FA5}">
                      <a16:colId xmlns:a16="http://schemas.microsoft.com/office/drawing/2014/main" val="1765991552"/>
                    </a:ext>
                  </a:extLst>
                </a:gridCol>
                <a:gridCol w="481344">
                  <a:extLst>
                    <a:ext uri="{9D8B030D-6E8A-4147-A177-3AD203B41FA5}">
                      <a16:colId xmlns:a16="http://schemas.microsoft.com/office/drawing/2014/main" val="2890681438"/>
                    </a:ext>
                  </a:extLst>
                </a:gridCol>
                <a:gridCol w="3604437">
                  <a:extLst>
                    <a:ext uri="{9D8B030D-6E8A-4147-A177-3AD203B41FA5}">
                      <a16:colId xmlns:a16="http://schemas.microsoft.com/office/drawing/2014/main" val="1078769785"/>
                    </a:ext>
                  </a:extLst>
                </a:gridCol>
              </a:tblGrid>
              <a:tr h="495818">
                <a:tc gridSpan="3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Flip-Flop RS (Set-Reset)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012911"/>
                  </a:ext>
                </a:extLst>
              </a:tr>
              <a:tr h="350377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Inputs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Output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89907884"/>
                  </a:ext>
                </a:extLst>
              </a:tr>
              <a:tr h="3231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S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</a:rPr>
                        <a:t>R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63170"/>
                  </a:ext>
                </a:extLst>
              </a:tr>
              <a:tr h="36785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</a:rPr>
                        <a:t>0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Sem Alteração ou Estado Anterior 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40765257"/>
                  </a:ext>
                </a:extLst>
              </a:tr>
              <a:tr h="3505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0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</a:rPr>
                        <a:t>1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795058705"/>
                  </a:ext>
                </a:extLst>
              </a:tr>
              <a:tr h="35057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1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</a:rPr>
                        <a:t>0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66398011"/>
                  </a:ext>
                </a:extLst>
              </a:tr>
              <a:tr h="3233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</a:rPr>
                        <a:t>1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Inválido 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735170125"/>
                  </a:ext>
                </a:extLst>
              </a:tr>
            </a:tbl>
          </a:graphicData>
        </a:graphic>
      </p:graphicFrame>
      <p:pic>
        <p:nvPicPr>
          <p:cNvPr id="3" name="Imagem 2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A731C576-0ED7-F53C-3911-1B0269FEF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1" t="4728" r="1731" b="-1215"/>
          <a:stretch>
            <a:fillRect/>
          </a:stretch>
        </p:blipFill>
        <p:spPr>
          <a:xfrm>
            <a:off x="646107" y="4848244"/>
            <a:ext cx="4436255" cy="196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885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6 – Flip-Flop JK 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"/>
          </p:nvPr>
        </p:nvSpPr>
        <p:spPr>
          <a:xfrm>
            <a:off x="646110" y="1565562"/>
            <a:ext cx="5449889" cy="57626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sz="2000" b="1" dirty="0"/>
              <a:t>Tabela da verdade </a:t>
            </a:r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958197"/>
            <a:ext cx="9739835" cy="719792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000" dirty="0">
                <a:latin typeface="+mn-lt"/>
              </a:rPr>
              <a:t>O </a:t>
            </a:r>
            <a:r>
              <a:rPr lang="pt-BR" sz="2000" b="1" dirty="0">
                <a:latin typeface="+mn-lt"/>
              </a:rPr>
              <a:t>flip-flop JK </a:t>
            </a:r>
            <a:r>
              <a:rPr lang="pt-BR" sz="2000" dirty="0">
                <a:latin typeface="+mn-lt"/>
              </a:rPr>
              <a:t>é uma evolução do RS, eliminando o estado proibido. Ele opera de forma sincronizada com o </a:t>
            </a:r>
            <a:r>
              <a:rPr lang="pt-BR" sz="2000" dirty="0" err="1">
                <a:latin typeface="+mn-lt"/>
              </a:rPr>
              <a:t>clock</a:t>
            </a:r>
            <a:r>
              <a:rPr lang="pt-BR" sz="2000" dirty="0">
                <a:latin typeface="+mn-lt"/>
              </a:rPr>
              <a:t>, sendo muito utilizado em contadores.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AA54C4-209E-44BE-A2AF-AA5387B9C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4838" y="2172927"/>
            <a:ext cx="5721409" cy="452004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7001EA1-0485-4C1E-8450-552B6C9943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23645"/>
              </p:ext>
            </p:extLst>
          </p:nvPr>
        </p:nvGraphicFramePr>
        <p:xfrm>
          <a:off x="600032" y="2172927"/>
          <a:ext cx="4818129" cy="2282382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337715">
                  <a:extLst>
                    <a:ext uri="{9D8B030D-6E8A-4147-A177-3AD203B41FA5}">
                      <a16:colId xmlns:a16="http://schemas.microsoft.com/office/drawing/2014/main" val="3087052333"/>
                    </a:ext>
                  </a:extLst>
                </a:gridCol>
                <a:gridCol w="254403">
                  <a:extLst>
                    <a:ext uri="{9D8B030D-6E8A-4147-A177-3AD203B41FA5}">
                      <a16:colId xmlns:a16="http://schemas.microsoft.com/office/drawing/2014/main" val="2905279429"/>
                    </a:ext>
                  </a:extLst>
                </a:gridCol>
                <a:gridCol w="685844">
                  <a:extLst>
                    <a:ext uri="{9D8B030D-6E8A-4147-A177-3AD203B41FA5}">
                      <a16:colId xmlns:a16="http://schemas.microsoft.com/office/drawing/2014/main" val="2776850423"/>
                    </a:ext>
                  </a:extLst>
                </a:gridCol>
                <a:gridCol w="3540167">
                  <a:extLst>
                    <a:ext uri="{9D8B030D-6E8A-4147-A177-3AD203B41FA5}">
                      <a16:colId xmlns:a16="http://schemas.microsoft.com/office/drawing/2014/main" val="1539051828"/>
                    </a:ext>
                  </a:extLst>
                </a:gridCol>
              </a:tblGrid>
              <a:tr h="250161"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Flip-Flop JK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1091888"/>
                  </a:ext>
                </a:extLst>
              </a:tr>
              <a:tr h="25016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Input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Clock</a:t>
                      </a: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Output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30763265"/>
                  </a:ext>
                </a:extLst>
              </a:tr>
              <a:tr h="17028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J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851239"/>
                  </a:ext>
                </a:extLst>
              </a:tr>
              <a:tr h="7522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­</a:t>
                      </a: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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Sem Alteração ou Estado Anterior 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51026592"/>
                  </a:ext>
                </a:extLst>
              </a:tr>
              <a:tr h="2503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0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­</a:t>
                      </a: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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12051447"/>
                  </a:ext>
                </a:extLst>
              </a:tr>
              <a:tr h="2503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1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­</a:t>
                      </a: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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>
                          <a:effectLst/>
                        </a:rPr>
                        <a:t>0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36636449"/>
                  </a:ext>
                </a:extLst>
              </a:tr>
              <a:tr h="25030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>
                          <a:effectLst/>
                        </a:rPr>
                        <a:t>1</a:t>
                      </a:r>
                      <a:endParaRPr lang="pt-BR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­</a:t>
                      </a:r>
                      <a:r>
                        <a:rPr lang="pt-BR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</a:t>
                      </a:r>
                      <a:endParaRPr lang="pt-BR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pt-BR" sz="1600" dirty="0" err="1">
                          <a:effectLst/>
                        </a:rPr>
                        <a:t>Toggle</a:t>
                      </a:r>
                      <a:endParaRPr lang="pt-BR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36658303"/>
                  </a:ext>
                </a:extLst>
              </a:tr>
            </a:tbl>
          </a:graphicData>
        </a:graphic>
      </p:graphicFrame>
      <p:pic>
        <p:nvPicPr>
          <p:cNvPr id="6" name="Imagem 5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DE866038-1FAF-6AE0-C5C8-195A89F55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31" y="4730543"/>
            <a:ext cx="4818129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3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404723" cy="1400530"/>
          </a:xfrm>
        </p:spPr>
        <p:txBody>
          <a:bodyPr/>
          <a:lstStyle/>
          <a:p>
            <a:r>
              <a:rPr lang="pt-BR" dirty="0"/>
              <a:t>Exercício  7 –</a:t>
            </a:r>
            <a:r>
              <a:rPr lang="pt-BR" dirty="0" err="1"/>
              <a:t>Decoders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818736"/>
            <a:ext cx="9767131" cy="71979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2000" dirty="0">
                <a:latin typeface="+mn-lt"/>
              </a:rPr>
              <a:t>Um </a:t>
            </a:r>
            <a:r>
              <a:rPr lang="pt-BR" sz="2000" b="1" dirty="0" err="1">
                <a:latin typeface="+mn-lt"/>
              </a:rPr>
              <a:t>Decoder</a:t>
            </a:r>
            <a:r>
              <a:rPr lang="pt-BR" sz="2000" dirty="0">
                <a:latin typeface="+mn-lt"/>
              </a:rPr>
              <a:t> converte um código binário de entrada num sinal ativo específico na saída, permitindo a ativação de linhas individuais conforme o valor binário aplicado.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9832645-5755-42F0-8FFD-51E8330BF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66" y="1801244"/>
            <a:ext cx="7082203" cy="4495036"/>
          </a:xfrm>
          <a:prstGeom prst="rect">
            <a:avLst/>
          </a:prstGeom>
        </p:spPr>
      </p:pic>
      <p:pic>
        <p:nvPicPr>
          <p:cNvPr id="9" name="Imagem 8" descr="Tabela&#10;&#10;O conteúdo gerado por IA pode estar incorreto.">
            <a:extLst>
              <a:ext uri="{FF2B5EF4-FFF2-40B4-BE49-F238E27FC236}">
                <a16:creationId xmlns:a16="http://schemas.microsoft.com/office/drawing/2014/main" id="{8FE72215-6D96-9EF3-7775-2C311C772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012" y="1801244"/>
            <a:ext cx="3421039" cy="2514749"/>
          </a:xfrm>
          <a:prstGeom prst="rect">
            <a:avLst/>
          </a:prstGeom>
        </p:spPr>
      </p:pic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D7E9679-8E41-0E2E-0A99-1D6D7AF17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628957" y="3938847"/>
            <a:ext cx="1867147" cy="284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31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8 – </a:t>
            </a:r>
            <a:r>
              <a:rPr lang="pt-BR" sz="3600" dirty="0" err="1"/>
              <a:t>Multiplexer</a:t>
            </a:r>
            <a:r>
              <a:rPr lang="pt-BR" sz="3600" dirty="0"/>
              <a:t> e </a:t>
            </a:r>
            <a:r>
              <a:rPr lang="pt-BR" sz="3600" dirty="0" err="1"/>
              <a:t>Demultiplexer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509635" y="936462"/>
            <a:ext cx="9798052" cy="204216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2900" dirty="0">
                <a:latin typeface="+mn-lt"/>
              </a:rPr>
              <a:t>O </a:t>
            </a:r>
            <a:r>
              <a:rPr lang="pt-BR" sz="2900" b="1" dirty="0" err="1">
                <a:latin typeface="+mn-lt"/>
              </a:rPr>
              <a:t>Multiplexer</a:t>
            </a:r>
            <a:r>
              <a:rPr lang="pt-BR" sz="2900" dirty="0">
                <a:latin typeface="+mn-lt"/>
              </a:rPr>
              <a:t> é um circuito </a:t>
            </a:r>
            <a:r>
              <a:rPr lang="pt-BR" sz="2900" dirty="0" err="1">
                <a:latin typeface="+mn-lt"/>
              </a:rPr>
              <a:t>combinacional</a:t>
            </a:r>
            <a:r>
              <a:rPr lang="pt-BR" sz="2900" dirty="0">
                <a:latin typeface="+mn-lt"/>
              </a:rPr>
              <a:t> que permite selecionar uma entre várias entradas de dados e encaminhar essa informação para uma única saída. A escolha da entrada é realizada através das linhas de seleção, que indicam qual dos sinais será transmitido.</a:t>
            </a:r>
          </a:p>
          <a:p>
            <a:pPr algn="just"/>
            <a:r>
              <a:rPr lang="pt-BR" sz="29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pt-BR" sz="2900" b="1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Demultiplexer</a:t>
            </a:r>
            <a:r>
              <a:rPr lang="pt-BR" sz="29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29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desempenha a função inversa de um multiplexador. Este dispositivo recebe uma única entrada de dados e distribui o seu valor para uma entre várias saídas possíveis, de acordo com o código aplicado nas linhas de seleção.</a:t>
            </a:r>
          </a:p>
          <a:p>
            <a:pPr marL="0" indent="0" algn="just">
              <a:buNone/>
            </a:pP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74377E2-9BC0-4084-9EF3-87F39B713C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16"/>
          <a:stretch/>
        </p:blipFill>
        <p:spPr>
          <a:xfrm>
            <a:off x="5328327" y="3119386"/>
            <a:ext cx="5703307" cy="2992505"/>
          </a:xfrm>
          <a:prstGeom prst="rect">
            <a:avLst/>
          </a:prstGeom>
        </p:spPr>
      </p:pic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9866D5A9-B7D3-EE41-9ECC-FC32D1232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20" y="3119386"/>
            <a:ext cx="4224713" cy="299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89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9 – </a:t>
            </a:r>
            <a:r>
              <a:rPr lang="pt-BR" sz="3600" dirty="0" err="1"/>
              <a:t>Arithmetic</a:t>
            </a:r>
            <a:r>
              <a:rPr lang="pt-BR" sz="3600" dirty="0"/>
              <a:t> - </a:t>
            </a:r>
            <a:r>
              <a:rPr lang="pt-BR" sz="3600" dirty="0" err="1"/>
              <a:t>Adders</a:t>
            </a:r>
            <a:r>
              <a:rPr lang="pt-BR" sz="3600" dirty="0"/>
              <a:t> Half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1200150"/>
            <a:ext cx="11282031" cy="527686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latin typeface="+mn-lt"/>
              </a:rPr>
              <a:t>Dispositivo que soma dois bits.</a:t>
            </a:r>
          </a:p>
          <a:p>
            <a:pPr marL="0" indent="0" algn="just">
              <a:buNone/>
            </a:pP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9658972-367A-4924-9B51-9432982DA0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3"/>
          <a:stretch/>
        </p:blipFill>
        <p:spPr>
          <a:xfrm>
            <a:off x="646111" y="1914525"/>
            <a:ext cx="3511552" cy="456633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62FC175-BA00-4A4B-B2DD-2FAED3B62DBA}"/>
              </a:ext>
            </a:extLst>
          </p:cNvPr>
          <p:cNvSpPr txBox="1"/>
          <p:nvPr/>
        </p:nvSpPr>
        <p:spPr>
          <a:xfrm>
            <a:off x="4809530" y="2205077"/>
            <a:ext cx="60632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Entradas: 2 bits (A, B)</a:t>
            </a:r>
          </a:p>
          <a:p>
            <a:r>
              <a:rPr lang="pt-BR" sz="2000" dirty="0"/>
              <a:t>Saídas: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/>
              <a:t>Soma: Resultado da soma binaria(0,1).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000" dirty="0" err="1"/>
              <a:t>Carry</a:t>
            </a:r>
            <a:r>
              <a:rPr lang="pt-BR" sz="2000" dirty="0"/>
              <a:t> Out: Gerado quando a soma excede 1.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C635F29-BA8B-475B-B254-BFFF40AFB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830" y="3758448"/>
            <a:ext cx="3284879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09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10 – </a:t>
            </a:r>
            <a:r>
              <a:rPr lang="pt-BR" sz="3200" dirty="0" err="1"/>
              <a:t>Arithmetic</a:t>
            </a:r>
            <a:r>
              <a:rPr lang="pt-BR" sz="3200" dirty="0"/>
              <a:t> - </a:t>
            </a:r>
            <a:r>
              <a:rPr lang="pt-BR" sz="3200" dirty="0" err="1"/>
              <a:t>Adders</a:t>
            </a:r>
            <a:r>
              <a:rPr lang="pt-BR" sz="3200" dirty="0"/>
              <a:t> Full 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0" y="1170158"/>
            <a:ext cx="11282031" cy="2065756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Dispositivo que possibilita soma três bits (A, B e </a:t>
            </a:r>
            <a:r>
              <a:rPr lang="pt-BR" sz="20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Carry</a:t>
            </a:r>
            <a:r>
              <a:rPr lang="pt-BR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in), no exemplo utilizado durante a formação utilizamos o </a:t>
            </a:r>
            <a:r>
              <a:rPr lang="pt-BR" sz="20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Carry</a:t>
            </a:r>
            <a:r>
              <a:rPr lang="pt-BR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Out como input no </a:t>
            </a:r>
            <a:r>
              <a:rPr lang="pt-BR" sz="2000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Carry</a:t>
            </a:r>
            <a:r>
              <a:rPr lang="pt-BR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In, o que possibilitou realizar uma soma com 3 bits  </a:t>
            </a:r>
          </a:p>
          <a:p>
            <a:pPr marL="0" indent="0" algn="just">
              <a:buNone/>
            </a:pPr>
            <a:endParaRPr lang="pt-BR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62FC175-BA00-4A4B-B2DD-2FAED3B62DBA}"/>
              </a:ext>
            </a:extLst>
          </p:cNvPr>
          <p:cNvSpPr txBox="1"/>
          <p:nvPr/>
        </p:nvSpPr>
        <p:spPr>
          <a:xfrm>
            <a:off x="6287126" y="2395944"/>
            <a:ext cx="6063258" cy="394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Entradas:  3 bits (A, B e </a:t>
            </a:r>
            <a:r>
              <a:rPr lang="pt-BR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Carry</a:t>
            </a:r>
            <a:r>
              <a:rPr lang="pt-BR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Saídas: Soma  e </a:t>
            </a:r>
            <a:r>
              <a:rPr lang="pt-BR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Carry</a:t>
            </a:r>
            <a:r>
              <a:rPr lang="pt-BR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out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pt-BR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Soma: 11110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D9805AD-BF5B-4FB3-8CA4-173683AD1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419717"/>
            <a:ext cx="5439534" cy="4245375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4FC57094-DD3D-4D9D-A2D8-B27200728C1B}"/>
              </a:ext>
            </a:extLst>
          </p:cNvPr>
          <p:cNvSpPr/>
          <p:nvPr/>
        </p:nvSpPr>
        <p:spPr>
          <a:xfrm>
            <a:off x="4100513" y="2205077"/>
            <a:ext cx="1100137" cy="4652923"/>
          </a:xfrm>
          <a:prstGeom prst="ellipse">
            <a:avLst/>
          </a:prstGeom>
          <a:noFill/>
          <a:ln w="5715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61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11 – </a:t>
            </a:r>
            <a:r>
              <a:rPr lang="pt-BR" sz="2800" b="1" dirty="0"/>
              <a:t>Universal Shift Register SN74AS194</a:t>
            </a:r>
            <a:endParaRPr lang="pt-BR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half" idx="2"/>
          </p:nvPr>
        </p:nvSpPr>
        <p:spPr>
          <a:xfrm>
            <a:off x="646111" y="1015839"/>
            <a:ext cx="9669464" cy="74199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 registrador SN74AS194 é um componente que permite armazenar e mover dados em diferentes direções, podendo operar tanto em modo serial quanto em modo paralelo. </a:t>
            </a:r>
            <a:endParaRPr lang="pt-BR" sz="19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BF3323-EA43-4E48-BC9F-43BB355F2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886902"/>
            <a:ext cx="5449889" cy="4656773"/>
          </a:xfrm>
          <a:prstGeom prst="rect">
            <a:avLst/>
          </a:prstGeom>
        </p:spPr>
      </p:pic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CB99FF73-2095-5B4C-34B6-E55C11A23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812" y="1741696"/>
            <a:ext cx="4689149" cy="2473592"/>
          </a:xfrm>
          <a:prstGeom prst="rect">
            <a:avLst/>
          </a:prstGeom>
        </p:spPr>
      </p:pic>
      <p:pic>
        <p:nvPicPr>
          <p:cNvPr id="7" name="Imagem 6" descr="Tabela&#10;&#10;O conteúdo gerado por IA pode estar incorreto.">
            <a:extLst>
              <a:ext uri="{FF2B5EF4-FFF2-40B4-BE49-F238E27FC236}">
                <a16:creationId xmlns:a16="http://schemas.microsoft.com/office/drawing/2014/main" id="{8196E5A0-E035-3F1D-FEC5-777690D72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812" y="4299378"/>
            <a:ext cx="4689149" cy="255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07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6425-5F56-F49D-770A-3CE4A0A8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FF093D7-2BC8-E1A8-069D-240547A6D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12 – Comparador </a:t>
            </a:r>
            <a:endParaRPr lang="pt-BR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8E542A1-D516-471A-4E00-4F57C36EA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1" y="1386839"/>
            <a:ext cx="11282031" cy="741999"/>
          </a:xfrm>
        </p:spPr>
        <p:txBody>
          <a:bodyPr>
            <a:normAutofit/>
          </a:bodyPr>
          <a:lstStyle/>
          <a:p>
            <a:r>
              <a:rPr lang="pt-BR" dirty="0"/>
              <a:t>Compara dois números binários e indica se um é maior, menor ou igual ao outro.</a:t>
            </a: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06647205-A1F9-14B9-6AA9-1A4316E5ED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2" t="2140" r="4881" b="2295"/>
          <a:stretch>
            <a:fillRect/>
          </a:stretch>
        </p:blipFill>
        <p:spPr>
          <a:xfrm>
            <a:off x="1255711" y="2128838"/>
            <a:ext cx="2467319" cy="4023950"/>
          </a:xfrm>
          <a:prstGeom prst="rect">
            <a:avLst/>
          </a:prstGeom>
        </p:spPr>
      </p:pic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1A70A223-7FD8-1BB6-0297-8D4DEA05C9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14" b="4947"/>
          <a:stretch>
            <a:fillRect/>
          </a:stretch>
        </p:blipFill>
        <p:spPr>
          <a:xfrm>
            <a:off x="4702280" y="2128838"/>
            <a:ext cx="2467319" cy="4023950"/>
          </a:xfrm>
          <a:prstGeom prst="rect">
            <a:avLst/>
          </a:prstGeom>
        </p:spPr>
      </p:pic>
      <p:pic>
        <p:nvPicPr>
          <p:cNvPr id="10" name="Imagem 9" descr="Diagrama&#10;&#10;O conteúdo gerado por IA pode estar incorreto.">
            <a:extLst>
              <a:ext uri="{FF2B5EF4-FFF2-40B4-BE49-F238E27FC236}">
                <a16:creationId xmlns:a16="http://schemas.microsoft.com/office/drawing/2014/main" id="{1430E31D-0467-765D-1479-361DFFCFE1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46"/>
          <a:stretch>
            <a:fillRect/>
          </a:stretch>
        </p:blipFill>
        <p:spPr>
          <a:xfrm>
            <a:off x="8014949" y="2128838"/>
            <a:ext cx="2429214" cy="40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75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25520-EE33-9F1C-5154-57B39892F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8BE65A9-9E16-71FC-3B41-4540E5A0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13 – Contadores </a:t>
            </a:r>
            <a:endParaRPr lang="pt-BR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F20AB11E-AA42-5583-FDD7-9CE814F08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1" y="1015839"/>
            <a:ext cx="9669464" cy="741999"/>
          </a:xfrm>
        </p:spPr>
        <p:txBody>
          <a:bodyPr>
            <a:normAutofit/>
          </a:bodyPr>
          <a:lstStyle/>
          <a:p>
            <a:r>
              <a:rPr lang="pt-BR" dirty="0"/>
              <a:t>Os contadores são circuitos que registram eventos, geralmente pulsos de </a:t>
            </a:r>
            <a:r>
              <a:rPr lang="pt-BR" dirty="0" err="1"/>
              <a:t>clock</a:t>
            </a:r>
            <a:r>
              <a:rPr lang="pt-BR" dirty="0"/>
              <a:t>, e podem contar tanto para cima quanto para baixo. </a:t>
            </a: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D5307BDB-575B-688F-F8BB-3E308F26E8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6" r="4725"/>
          <a:stretch>
            <a:fillRect/>
          </a:stretch>
        </p:blipFill>
        <p:spPr>
          <a:xfrm>
            <a:off x="1065053" y="2315527"/>
            <a:ext cx="4611689" cy="3929611"/>
          </a:xfrm>
          <a:prstGeom prst="rect">
            <a:avLst/>
          </a:prstGeom>
        </p:spPr>
      </p:pic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98D5D94B-288A-EBBC-EBF0-5B55FE771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215" y="2315527"/>
            <a:ext cx="4834732" cy="389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73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37036-63D1-82A7-0F9C-B91454A0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9E80088-1B1F-9B65-E111-6B7EB8638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14 – </a:t>
            </a:r>
            <a:r>
              <a:rPr lang="pt-BR" sz="4000" dirty="0"/>
              <a:t>Flip-Flop JK - Assíncrono  </a:t>
            </a:r>
            <a:endParaRPr lang="pt-BR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F904A43-C0B9-FA5A-DCFF-9B879F419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1" y="1386839"/>
            <a:ext cx="11282031" cy="741999"/>
          </a:xfrm>
        </p:spPr>
        <p:txBody>
          <a:bodyPr>
            <a:normAutofit/>
          </a:bodyPr>
          <a:lstStyle/>
          <a:p>
            <a:r>
              <a:rPr lang="pt-BR" dirty="0"/>
              <a:t>Flip-Flop JK - Assíncrono – Projeto conta até 10</a:t>
            </a: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AA9526AB-3A1F-560B-E40D-87C2FC2A5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29" y="1758329"/>
            <a:ext cx="11050542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50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D947-52D4-C878-96A8-965562C1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D6B2C20-1888-C895-637B-C2D3F8CCC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15 – </a:t>
            </a:r>
            <a:r>
              <a:rPr lang="pt-BR" sz="4000" dirty="0"/>
              <a:t>Flip-Flop JK - Síncrono  </a:t>
            </a:r>
            <a:endParaRPr lang="pt-BR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7024BF17-D885-65AA-0393-D6A0E9F51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0" y="1200150"/>
            <a:ext cx="11282031" cy="741999"/>
          </a:xfrm>
        </p:spPr>
        <p:txBody>
          <a:bodyPr>
            <a:normAutofit/>
          </a:bodyPr>
          <a:lstStyle/>
          <a:p>
            <a:r>
              <a:rPr lang="pt-BR" dirty="0"/>
              <a:t>Flip-Flop JK - Síncrono – Projeto conta até 10</a:t>
            </a: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CC6925B7-25A1-09B3-CCF0-DA168D2E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0" y="1869437"/>
            <a:ext cx="10899779" cy="494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11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1B40-713D-3EAD-797B-E6C8BFDE9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6DE84DD-064C-781D-4FF6-83FBE647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16 – </a:t>
            </a:r>
            <a:r>
              <a:rPr lang="pt-BR" sz="2400" dirty="0"/>
              <a:t>Simplificação com Mapa de Karnaugh </a:t>
            </a:r>
            <a:endParaRPr lang="pt-BR" sz="2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64E107DA-6126-876F-A1D4-06258B124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1" y="1386839"/>
            <a:ext cx="11282031" cy="741999"/>
          </a:xfrm>
        </p:spPr>
        <p:txBody>
          <a:bodyPr>
            <a:normAutofit/>
          </a:bodyPr>
          <a:lstStyle/>
          <a:p>
            <a:pPr lvl="0"/>
            <a:r>
              <a:rPr lang="pt-BR" b="1" dirty="0"/>
              <a:t>S= /A*/B*/C + /A*/B*C + /A*B*C + A*/B*C + A*B*C </a:t>
            </a:r>
            <a:endParaRPr lang="pt-BR" dirty="0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041B8A3D-9602-5EB6-5495-E3234FA72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086216"/>
              </p:ext>
            </p:extLst>
          </p:nvPr>
        </p:nvGraphicFramePr>
        <p:xfrm>
          <a:off x="646111" y="2520224"/>
          <a:ext cx="2654302" cy="37234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1716">
                  <a:extLst>
                    <a:ext uri="{9D8B030D-6E8A-4147-A177-3AD203B41FA5}">
                      <a16:colId xmlns:a16="http://schemas.microsoft.com/office/drawing/2014/main" val="1298246058"/>
                    </a:ext>
                  </a:extLst>
                </a:gridCol>
                <a:gridCol w="650092">
                  <a:extLst>
                    <a:ext uri="{9D8B030D-6E8A-4147-A177-3AD203B41FA5}">
                      <a16:colId xmlns:a16="http://schemas.microsoft.com/office/drawing/2014/main" val="3605933407"/>
                    </a:ext>
                  </a:extLst>
                </a:gridCol>
                <a:gridCol w="595055">
                  <a:extLst>
                    <a:ext uri="{9D8B030D-6E8A-4147-A177-3AD203B41FA5}">
                      <a16:colId xmlns:a16="http://schemas.microsoft.com/office/drawing/2014/main" val="2379855637"/>
                    </a:ext>
                  </a:extLst>
                </a:gridCol>
                <a:gridCol w="867439">
                  <a:extLst>
                    <a:ext uri="{9D8B030D-6E8A-4147-A177-3AD203B41FA5}">
                      <a16:colId xmlns:a16="http://schemas.microsoft.com/office/drawing/2014/main" val="2259857339"/>
                    </a:ext>
                  </a:extLst>
                </a:gridCol>
              </a:tblGrid>
              <a:tr h="631514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effectLst/>
                        </a:rPr>
                        <a:t>Tabela da Verdade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653353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effectLst/>
                        </a:rPr>
                        <a:t>A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pt-BR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S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48112838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effectLst/>
                        </a:rPr>
                        <a:t>0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0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57991420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0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effectLst/>
                        </a:rPr>
                        <a:t>1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75188139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0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0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86461206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0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1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78491287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1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0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951197497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1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effectLst/>
                        </a:rPr>
                        <a:t>1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745521361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1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effectLst/>
                        </a:rPr>
                        <a:t>0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83773875"/>
                  </a:ext>
                </a:extLst>
              </a:tr>
              <a:tr h="3435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effectLst/>
                        </a:rPr>
                        <a:t>1</a:t>
                      </a:r>
                      <a:endParaRPr lang="pt-BR" sz="20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20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2000" b="1" dirty="0">
                          <a:effectLst/>
                        </a:rPr>
                        <a:t>1</a:t>
                      </a:r>
                      <a:endParaRPr lang="pt-BR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905949328"/>
                  </a:ext>
                </a:extLst>
              </a:tr>
            </a:tbl>
          </a:graphicData>
        </a:graphic>
      </p:graphicFrame>
      <p:pic>
        <p:nvPicPr>
          <p:cNvPr id="21" name="Imagem 20" descr="Uma imagem contendo objeto, relógio&#10;&#10;O conteúdo gerado por IA pode estar incorreto.">
            <a:extLst>
              <a:ext uri="{FF2B5EF4-FFF2-40B4-BE49-F238E27FC236}">
                <a16:creationId xmlns:a16="http://schemas.microsoft.com/office/drawing/2014/main" id="{329293F4-E870-A7CF-6EB6-D827FFBE9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95718"/>
            <a:ext cx="2000342" cy="2047916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BEE339BE-5188-F6FA-E237-F8C0A989A3B2}"/>
              </a:ext>
            </a:extLst>
          </p:cNvPr>
          <p:cNvSpPr txBox="1"/>
          <p:nvPr/>
        </p:nvSpPr>
        <p:spPr>
          <a:xfrm>
            <a:off x="6096000" y="3299850"/>
            <a:ext cx="5605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S= C+ /A*/B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6B5C88B4-CE2F-1102-465A-B90D8B7F6C69}"/>
              </a:ext>
            </a:extLst>
          </p:cNvPr>
          <p:cNvSpPr txBox="1">
            <a:spLocks/>
          </p:cNvSpPr>
          <p:nvPr/>
        </p:nvSpPr>
        <p:spPr>
          <a:xfrm>
            <a:off x="6015129" y="2520224"/>
            <a:ext cx="5686334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pt-BR" sz="2800" dirty="0">
                <a:solidFill>
                  <a:schemeClr val="tx1"/>
                </a:solidFill>
              </a:rPr>
              <a:t>Simplificação da solução </a:t>
            </a:r>
          </a:p>
        </p:txBody>
      </p:sp>
      <p:pic>
        <p:nvPicPr>
          <p:cNvPr id="3" name="Imagem 2" descr="Diagrama&#10;&#10;O conteúdo gerado por IA pode estar incorreto.">
            <a:extLst>
              <a:ext uri="{FF2B5EF4-FFF2-40B4-BE49-F238E27FC236}">
                <a16:creationId xmlns:a16="http://schemas.microsoft.com/office/drawing/2014/main" id="{8825DD58-BCBE-FCF1-0D3B-1A115BA17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016" y="4160794"/>
            <a:ext cx="5200559" cy="1886213"/>
          </a:xfrm>
          <a:prstGeom prst="rect">
            <a:avLst/>
          </a:prstGeom>
        </p:spPr>
      </p:pic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9658E16-A761-C3D8-344F-FE02385B1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491649"/>
            <a:ext cx="2000342" cy="1642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91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81B63-C10A-5C88-6EE9-C2A1952E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A3C3247-37D0-5162-CFA6-A39D0CE8A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17 – </a:t>
            </a:r>
            <a:r>
              <a:rPr lang="pt-BR" sz="2400" dirty="0"/>
              <a:t>Simplificação com Mapa de Karnaugh </a:t>
            </a:r>
            <a:endParaRPr lang="pt-BR" sz="2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C5016B07-FCF1-FCE9-71FB-3EE772A3F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1" y="1386839"/>
            <a:ext cx="11282031" cy="741999"/>
          </a:xfrm>
        </p:spPr>
        <p:txBody>
          <a:bodyPr>
            <a:normAutofit/>
          </a:bodyPr>
          <a:lstStyle/>
          <a:p>
            <a:pPr lvl="0"/>
            <a:r>
              <a:rPr lang="pt-BR" b="1" dirty="0"/>
              <a:t>S= /A*/B*/C*D + /A*/B*C*D + /A*B*/C*/D + /A*B*/C*D + /A*B*C*D + /A*B*C*/D + A*B*C*D + A*/B*C*/D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D460C33-876D-B9C0-40A5-BF577ECA0157}"/>
              </a:ext>
            </a:extLst>
          </p:cNvPr>
          <p:cNvSpPr txBox="1"/>
          <p:nvPr/>
        </p:nvSpPr>
        <p:spPr>
          <a:xfrm>
            <a:off x="6096000" y="3135129"/>
            <a:ext cx="5605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S= /A*D + /A*B + B*C*D + A*/B*C*D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56205A9D-2FD1-7ED7-86AC-A92394504D13}"/>
              </a:ext>
            </a:extLst>
          </p:cNvPr>
          <p:cNvSpPr txBox="1">
            <a:spLocks/>
          </p:cNvSpPr>
          <p:nvPr/>
        </p:nvSpPr>
        <p:spPr>
          <a:xfrm>
            <a:off x="6015129" y="2520224"/>
            <a:ext cx="5686334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pt-BR" sz="2800" dirty="0">
                <a:solidFill>
                  <a:schemeClr val="tx1"/>
                </a:solidFill>
              </a:rPr>
              <a:t>Simplificação da solução 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78C417CC-B407-A92E-DC2C-1D0A5B8D4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885762"/>
              </p:ext>
            </p:extLst>
          </p:nvPr>
        </p:nvGraphicFramePr>
        <p:xfrm>
          <a:off x="646110" y="2173631"/>
          <a:ext cx="2840039" cy="4458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4028">
                  <a:extLst>
                    <a:ext uri="{9D8B030D-6E8A-4147-A177-3AD203B41FA5}">
                      <a16:colId xmlns:a16="http://schemas.microsoft.com/office/drawing/2014/main" val="4178595760"/>
                    </a:ext>
                  </a:extLst>
                </a:gridCol>
                <a:gridCol w="690671">
                  <a:extLst>
                    <a:ext uri="{9D8B030D-6E8A-4147-A177-3AD203B41FA5}">
                      <a16:colId xmlns:a16="http://schemas.microsoft.com/office/drawing/2014/main" val="887172328"/>
                    </a:ext>
                  </a:extLst>
                </a:gridCol>
                <a:gridCol w="550641">
                  <a:extLst>
                    <a:ext uri="{9D8B030D-6E8A-4147-A177-3AD203B41FA5}">
                      <a16:colId xmlns:a16="http://schemas.microsoft.com/office/drawing/2014/main" val="61814284"/>
                    </a:ext>
                  </a:extLst>
                </a:gridCol>
                <a:gridCol w="617354">
                  <a:extLst>
                    <a:ext uri="{9D8B030D-6E8A-4147-A177-3AD203B41FA5}">
                      <a16:colId xmlns:a16="http://schemas.microsoft.com/office/drawing/2014/main" val="3638568303"/>
                    </a:ext>
                  </a:extLst>
                </a:gridCol>
                <a:gridCol w="527345">
                  <a:extLst>
                    <a:ext uri="{9D8B030D-6E8A-4147-A177-3AD203B41FA5}">
                      <a16:colId xmlns:a16="http://schemas.microsoft.com/office/drawing/2014/main" val="691586344"/>
                    </a:ext>
                  </a:extLst>
                </a:gridCol>
              </a:tblGrid>
              <a:tr h="383832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dirty="0">
                          <a:solidFill>
                            <a:schemeClr val="tx1"/>
                          </a:solidFill>
                          <a:effectLst/>
                        </a:rPr>
                        <a:t>Tabela da Verdade</a:t>
                      </a:r>
                      <a:endParaRPr lang="pt-BR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345846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S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504025212"/>
                  </a:ext>
                </a:extLst>
              </a:tr>
              <a:tr h="245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0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915164723"/>
                  </a:ext>
                </a:extLst>
              </a:tr>
              <a:tr h="245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effectLst/>
                        </a:rPr>
                        <a:t>1</a:t>
                      </a:r>
                      <a:endParaRPr lang="pt-B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49914477"/>
                  </a:ext>
                </a:extLst>
              </a:tr>
              <a:tr h="245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0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448103780"/>
                  </a:ext>
                </a:extLst>
              </a:tr>
              <a:tr h="245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effectLst/>
                        </a:rPr>
                        <a:t>1</a:t>
                      </a:r>
                      <a:endParaRPr lang="pt-B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168185068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1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346495636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1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014811810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1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701857609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effectLst/>
                        </a:rPr>
                        <a:t>1</a:t>
                      </a:r>
                      <a:endParaRPr lang="pt-BR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131336889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1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699122099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0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066841783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0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054873432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1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721278636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0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3155736039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0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1692667001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0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282354191"/>
                  </a:ext>
                </a:extLst>
              </a:tr>
              <a:tr h="2380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100" b="1" dirty="0">
                          <a:effectLst/>
                        </a:rPr>
                        <a:t>1</a:t>
                      </a:r>
                      <a:endParaRPr lang="pt-BR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/>
                </a:tc>
                <a:extLst>
                  <a:ext uri="{0D108BD9-81ED-4DB2-BD59-A6C34878D82A}">
                    <a16:rowId xmlns:a16="http://schemas.microsoft.com/office/drawing/2014/main" val="4008327917"/>
                  </a:ext>
                </a:extLst>
              </a:tr>
            </a:tbl>
          </a:graphicData>
        </a:graphic>
      </p:graphicFrame>
      <p:pic>
        <p:nvPicPr>
          <p:cNvPr id="5" name="Imagem 4" descr="Desenho de palavras cruzadas&#10;&#10;O conteúdo gerado por IA pode estar incorreto.">
            <a:extLst>
              <a:ext uri="{FF2B5EF4-FFF2-40B4-BE49-F238E27FC236}">
                <a16:creationId xmlns:a16="http://schemas.microsoft.com/office/drawing/2014/main" id="{E67BADC8-4825-F264-F1AF-60C413740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359" y="2173631"/>
            <a:ext cx="2135941" cy="2121981"/>
          </a:xfrm>
          <a:prstGeom prst="rect">
            <a:avLst/>
          </a:prstGeom>
        </p:spPr>
      </p:pic>
      <p:pic>
        <p:nvPicPr>
          <p:cNvPr id="7" name="Imagem 6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C8609899-525A-8073-4495-6E37A758B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359" y="4403062"/>
            <a:ext cx="2135941" cy="2229433"/>
          </a:xfrm>
          <a:prstGeom prst="rect">
            <a:avLst/>
          </a:prstGeom>
        </p:spPr>
      </p:pic>
      <p:pic>
        <p:nvPicPr>
          <p:cNvPr id="9" name="Imagem 8" descr="Diagrama, Esquemático&#10;&#10;O conteúdo gerado por IA pode estar incorreto.">
            <a:extLst>
              <a:ext uri="{FF2B5EF4-FFF2-40B4-BE49-F238E27FC236}">
                <a16:creationId xmlns:a16="http://schemas.microsoft.com/office/drawing/2014/main" id="{E2E8A199-3BAE-C0A6-D25D-F975A412B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61515"/>
            <a:ext cx="5605462" cy="294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723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18DA0-5C7D-49B5-C8C9-9E1347C15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FB04B12-8285-892B-297A-5A495097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18 – Mapa de Karnaugh</a:t>
            </a:r>
            <a:endParaRPr lang="pt-BR" b="1" dirty="0"/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E5EBE7CD-391E-2571-00EB-612973C317E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89264457"/>
              </p:ext>
            </p:extLst>
          </p:nvPr>
        </p:nvGraphicFramePr>
        <p:xfrm>
          <a:off x="1417220" y="1293514"/>
          <a:ext cx="3507706" cy="28527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4925">
                  <a:extLst>
                    <a:ext uri="{9D8B030D-6E8A-4147-A177-3AD203B41FA5}">
                      <a16:colId xmlns:a16="http://schemas.microsoft.com/office/drawing/2014/main" val="2599780082"/>
                    </a:ext>
                  </a:extLst>
                </a:gridCol>
                <a:gridCol w="546542">
                  <a:extLst>
                    <a:ext uri="{9D8B030D-6E8A-4147-A177-3AD203B41FA5}">
                      <a16:colId xmlns:a16="http://schemas.microsoft.com/office/drawing/2014/main" val="3808927732"/>
                    </a:ext>
                  </a:extLst>
                </a:gridCol>
                <a:gridCol w="546929">
                  <a:extLst>
                    <a:ext uri="{9D8B030D-6E8A-4147-A177-3AD203B41FA5}">
                      <a16:colId xmlns:a16="http://schemas.microsoft.com/office/drawing/2014/main" val="678731441"/>
                    </a:ext>
                  </a:extLst>
                </a:gridCol>
                <a:gridCol w="551614">
                  <a:extLst>
                    <a:ext uri="{9D8B030D-6E8A-4147-A177-3AD203B41FA5}">
                      <a16:colId xmlns:a16="http://schemas.microsoft.com/office/drawing/2014/main" val="2509104057"/>
                    </a:ext>
                  </a:extLst>
                </a:gridCol>
                <a:gridCol w="657696">
                  <a:extLst>
                    <a:ext uri="{9D8B030D-6E8A-4147-A177-3AD203B41FA5}">
                      <a16:colId xmlns:a16="http://schemas.microsoft.com/office/drawing/2014/main" val="2792042787"/>
                    </a:ext>
                  </a:extLst>
                </a:gridCol>
              </a:tblGrid>
              <a:tr h="452531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Mapa de Karnaugh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189070"/>
                  </a:ext>
                </a:extLst>
              </a:tr>
              <a:tr h="5674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AB      CD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66261"/>
                  </a:ext>
                </a:extLst>
              </a:tr>
              <a:tr h="4751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16036748"/>
                  </a:ext>
                </a:extLst>
              </a:tr>
              <a:tr h="452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4635742"/>
                  </a:ext>
                </a:extLst>
              </a:tr>
              <a:tr h="452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9401616"/>
                  </a:ext>
                </a:extLst>
              </a:tr>
              <a:tr h="452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30138459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91A47127-C955-B83B-588F-63DDE067D459}"/>
              </a:ext>
            </a:extLst>
          </p:cNvPr>
          <p:cNvSpPr txBox="1"/>
          <p:nvPr/>
        </p:nvSpPr>
        <p:spPr>
          <a:xfrm>
            <a:off x="490537" y="4870872"/>
            <a:ext cx="5605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AD+/A*B*/C*/D</a:t>
            </a:r>
            <a:endParaRPr lang="pt-BR" sz="2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7B62926D-1E4D-A914-3FCE-1DAE27B07351}"/>
              </a:ext>
            </a:extLst>
          </p:cNvPr>
          <p:cNvSpPr txBox="1">
            <a:spLocks/>
          </p:cNvSpPr>
          <p:nvPr/>
        </p:nvSpPr>
        <p:spPr>
          <a:xfrm>
            <a:off x="490537" y="4275065"/>
            <a:ext cx="5686334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800" dirty="0">
                <a:solidFill>
                  <a:schemeClr val="tx1"/>
                </a:solidFill>
              </a:rPr>
              <a:t>Simplificação da solução 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SpPr/>
          <p:nvPr/>
        </p:nvSpPr>
        <p:spPr>
          <a:xfrm>
            <a:off x="2780548" y="2802908"/>
            <a:ext cx="390525" cy="354750"/>
          </a:xfrm>
          <a:prstGeom prst="ellipse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SpPr/>
          <p:nvPr/>
        </p:nvSpPr>
        <p:spPr>
          <a:xfrm>
            <a:off x="3257657" y="3235150"/>
            <a:ext cx="909420" cy="941728"/>
          </a:xfrm>
          <a:prstGeom prst="ellipse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C9331535-CC0B-6A68-9A01-7BB1E143156B}"/>
              </a:ext>
            </a:extLst>
          </p:cNvPr>
          <p:cNvSpPr txBox="1">
            <a:spLocks/>
          </p:cNvSpPr>
          <p:nvPr/>
        </p:nvSpPr>
        <p:spPr>
          <a:xfrm>
            <a:off x="490537" y="5297588"/>
            <a:ext cx="5686334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800" dirty="0">
                <a:solidFill>
                  <a:schemeClr val="tx1"/>
                </a:solidFill>
              </a:rPr>
              <a:t>Solução: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DCDE393-07AA-C3FA-F8A6-0F5E2C6D815A}"/>
              </a:ext>
            </a:extLst>
          </p:cNvPr>
          <p:cNvSpPr txBox="1"/>
          <p:nvPr/>
        </p:nvSpPr>
        <p:spPr>
          <a:xfrm>
            <a:off x="490537" y="5873850"/>
            <a:ext cx="6443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/AB/C/D+AB/CD+A/B/CD+ABCD+A/BCD</a:t>
            </a:r>
            <a:endParaRPr lang="pt-BR" sz="2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49E882D4-A2FA-6426-AE43-D3C1F6768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7971"/>
              </p:ext>
            </p:extLst>
          </p:nvPr>
        </p:nvGraphicFramePr>
        <p:xfrm>
          <a:off x="6934197" y="1239239"/>
          <a:ext cx="4182980" cy="54537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6596">
                  <a:extLst>
                    <a:ext uri="{9D8B030D-6E8A-4147-A177-3AD203B41FA5}">
                      <a16:colId xmlns:a16="http://schemas.microsoft.com/office/drawing/2014/main" val="3941794501"/>
                    </a:ext>
                  </a:extLst>
                </a:gridCol>
                <a:gridCol w="836596">
                  <a:extLst>
                    <a:ext uri="{9D8B030D-6E8A-4147-A177-3AD203B41FA5}">
                      <a16:colId xmlns:a16="http://schemas.microsoft.com/office/drawing/2014/main" val="2827346524"/>
                    </a:ext>
                  </a:extLst>
                </a:gridCol>
                <a:gridCol w="836596">
                  <a:extLst>
                    <a:ext uri="{9D8B030D-6E8A-4147-A177-3AD203B41FA5}">
                      <a16:colId xmlns:a16="http://schemas.microsoft.com/office/drawing/2014/main" val="1213913743"/>
                    </a:ext>
                  </a:extLst>
                </a:gridCol>
                <a:gridCol w="836596">
                  <a:extLst>
                    <a:ext uri="{9D8B030D-6E8A-4147-A177-3AD203B41FA5}">
                      <a16:colId xmlns:a16="http://schemas.microsoft.com/office/drawing/2014/main" val="1012042139"/>
                    </a:ext>
                  </a:extLst>
                </a:gridCol>
                <a:gridCol w="836596">
                  <a:extLst>
                    <a:ext uri="{9D8B030D-6E8A-4147-A177-3AD203B41FA5}">
                      <a16:colId xmlns:a16="http://schemas.microsoft.com/office/drawing/2014/main" val="3322825543"/>
                    </a:ext>
                  </a:extLst>
                </a:gridCol>
              </a:tblGrid>
              <a:tr h="303712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Tabela da Verdade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671149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S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995412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7017164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4072784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4382498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9880820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3982331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3918197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9475495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3621118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39895721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1962167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3012468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6033453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</a:t>
                      </a:r>
                      <a:endParaRPr lang="pt-B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8982362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0646989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0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4994391"/>
                  </a:ext>
                </a:extLst>
              </a:tr>
              <a:tr h="30294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</a:t>
                      </a:r>
                      <a:endParaRPr lang="pt-B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67650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743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FB34-EECD-643F-5ED3-D083A178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DF67512-4720-A6D2-B372-082FC483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19 – Mapa de Karnaugh</a:t>
            </a:r>
            <a:endParaRPr lang="pt-BR" b="1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FB69236-82B5-D269-BA94-D48032F6DF8C}"/>
              </a:ext>
            </a:extLst>
          </p:cNvPr>
          <p:cNvSpPr txBox="1"/>
          <p:nvPr/>
        </p:nvSpPr>
        <p:spPr>
          <a:xfrm>
            <a:off x="490537" y="4870872"/>
            <a:ext cx="63113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(/A*B*/C)+(B*/C*/D)+(A*C*D)+(/A*C*/D)</a:t>
            </a:r>
          </a:p>
        </p:txBody>
      </p:sp>
      <p:sp>
        <p:nvSpPr>
          <p:cNvPr id="25" name="Espaço Reservado para Texto 6">
            <a:extLst>
              <a:ext uri="{FF2B5EF4-FFF2-40B4-BE49-F238E27FC236}">
                <a16:creationId xmlns:a16="http://schemas.microsoft.com/office/drawing/2014/main" id="{AE4A50E4-DC45-D50B-F3B5-4FD9E354A7E2}"/>
              </a:ext>
            </a:extLst>
          </p:cNvPr>
          <p:cNvSpPr txBox="1">
            <a:spLocks/>
          </p:cNvSpPr>
          <p:nvPr/>
        </p:nvSpPr>
        <p:spPr>
          <a:xfrm>
            <a:off x="490537" y="4275065"/>
            <a:ext cx="5686334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800" dirty="0">
                <a:solidFill>
                  <a:schemeClr val="tx1"/>
                </a:solidFill>
              </a:rPr>
              <a:t>Simplificação da solução 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BAEDD9B9-D66D-44B5-8CE0-DAD7CDA878DE}"/>
              </a:ext>
            </a:extLst>
          </p:cNvPr>
          <p:cNvSpPr txBox="1">
            <a:spLocks/>
          </p:cNvSpPr>
          <p:nvPr/>
        </p:nvSpPr>
        <p:spPr>
          <a:xfrm>
            <a:off x="490537" y="5297588"/>
            <a:ext cx="5686334" cy="57626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400" b="0" i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pt-BR" sz="2800" dirty="0">
                <a:solidFill>
                  <a:schemeClr val="tx1"/>
                </a:solidFill>
              </a:rPr>
              <a:t>Solução: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904A06E-678F-4D10-EBBA-9806F103C8AD}"/>
              </a:ext>
            </a:extLst>
          </p:cNvPr>
          <p:cNvSpPr txBox="1"/>
          <p:nvPr/>
        </p:nvSpPr>
        <p:spPr>
          <a:xfrm>
            <a:off x="490537" y="5873850"/>
            <a:ext cx="64436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/AB/C/D+AB/C/D+/AB/CD+ABCD+A/BCD+/A/BC/D</a:t>
            </a:r>
            <a:endParaRPr lang="pt-BR" sz="2400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1F2B252-E0D0-BCB7-0255-CFC700E20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381344"/>
              </p:ext>
            </p:extLst>
          </p:nvPr>
        </p:nvGraphicFramePr>
        <p:xfrm>
          <a:off x="1169104" y="1384194"/>
          <a:ext cx="3338512" cy="23495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0538">
                  <a:extLst>
                    <a:ext uri="{9D8B030D-6E8A-4147-A177-3AD203B41FA5}">
                      <a16:colId xmlns:a16="http://schemas.microsoft.com/office/drawing/2014/main" val="4273946627"/>
                    </a:ext>
                  </a:extLst>
                </a:gridCol>
                <a:gridCol w="584849">
                  <a:extLst>
                    <a:ext uri="{9D8B030D-6E8A-4147-A177-3AD203B41FA5}">
                      <a16:colId xmlns:a16="http://schemas.microsoft.com/office/drawing/2014/main" val="1592080982"/>
                    </a:ext>
                  </a:extLst>
                </a:gridCol>
                <a:gridCol w="618309">
                  <a:extLst>
                    <a:ext uri="{9D8B030D-6E8A-4147-A177-3AD203B41FA5}">
                      <a16:colId xmlns:a16="http://schemas.microsoft.com/office/drawing/2014/main" val="675959026"/>
                    </a:ext>
                  </a:extLst>
                </a:gridCol>
                <a:gridCol w="577516">
                  <a:extLst>
                    <a:ext uri="{9D8B030D-6E8A-4147-A177-3AD203B41FA5}">
                      <a16:colId xmlns:a16="http://schemas.microsoft.com/office/drawing/2014/main" val="2577603187"/>
                    </a:ext>
                  </a:extLst>
                </a:gridCol>
                <a:gridCol w="577300">
                  <a:extLst>
                    <a:ext uri="{9D8B030D-6E8A-4147-A177-3AD203B41FA5}">
                      <a16:colId xmlns:a16="http://schemas.microsoft.com/office/drawing/2014/main" val="2544627331"/>
                    </a:ext>
                  </a:extLst>
                </a:gridCol>
              </a:tblGrid>
              <a:tr h="335651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Mapa de Karnaugh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921621"/>
                  </a:ext>
                </a:extLst>
              </a:tr>
              <a:tr h="671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AB      CD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852431"/>
                  </a:ext>
                </a:extLst>
              </a:tr>
              <a:tr h="3356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36471089"/>
                  </a:ext>
                </a:extLst>
              </a:tr>
              <a:tr h="3356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95963003"/>
                  </a:ext>
                </a:extLst>
              </a:tr>
              <a:tr h="3356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4437304"/>
                  </a:ext>
                </a:extLst>
              </a:tr>
              <a:tr h="3356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1121674"/>
                  </a:ext>
                </a:extLst>
              </a:tr>
            </a:tbl>
          </a:graphicData>
        </a:graphic>
      </p:graphicFrame>
      <p:sp>
        <p:nvSpPr>
          <p:cNvPr id="9" name="Elipse 8">
            <a:extLst>
              <a:ext uri="{FF2B5EF4-FFF2-40B4-BE49-F238E27FC236}">
                <a16:creationId xmlns:a16="http://schemas.microsoft.com/office/drawing/2014/main" id="{00000000-0008-0000-0000-000004000000}"/>
              </a:ext>
            </a:extLst>
          </p:cNvPr>
          <p:cNvSpPr/>
          <p:nvPr/>
        </p:nvSpPr>
        <p:spPr>
          <a:xfrm>
            <a:off x="2194628" y="2731169"/>
            <a:ext cx="1234372" cy="276726"/>
          </a:xfrm>
          <a:prstGeom prst="ellipse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SpPr/>
          <p:nvPr/>
        </p:nvSpPr>
        <p:spPr>
          <a:xfrm>
            <a:off x="2194627" y="2674520"/>
            <a:ext cx="572636" cy="610101"/>
          </a:xfrm>
          <a:prstGeom prst="ellipse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SpPr/>
          <p:nvPr/>
        </p:nvSpPr>
        <p:spPr>
          <a:xfrm>
            <a:off x="3935193" y="2426118"/>
            <a:ext cx="502265" cy="610101"/>
          </a:xfrm>
          <a:prstGeom prst="ellipse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00000000-0008-0000-0000-000007000000}"/>
              </a:ext>
            </a:extLst>
          </p:cNvPr>
          <p:cNvSpPr/>
          <p:nvPr/>
        </p:nvSpPr>
        <p:spPr>
          <a:xfrm>
            <a:off x="3459202" y="3007895"/>
            <a:ext cx="361950" cy="725856"/>
          </a:xfrm>
          <a:prstGeom prst="ellipse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pt-BR" sz="1100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080D050C-7750-BEA9-7434-729C866EE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009755"/>
              </p:ext>
            </p:extLst>
          </p:nvPr>
        </p:nvGraphicFramePr>
        <p:xfrm>
          <a:off x="6949373" y="1200149"/>
          <a:ext cx="4186730" cy="55046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7346">
                  <a:extLst>
                    <a:ext uri="{9D8B030D-6E8A-4147-A177-3AD203B41FA5}">
                      <a16:colId xmlns:a16="http://schemas.microsoft.com/office/drawing/2014/main" val="1298997007"/>
                    </a:ext>
                  </a:extLst>
                </a:gridCol>
                <a:gridCol w="837346">
                  <a:extLst>
                    <a:ext uri="{9D8B030D-6E8A-4147-A177-3AD203B41FA5}">
                      <a16:colId xmlns:a16="http://schemas.microsoft.com/office/drawing/2014/main" val="1226261058"/>
                    </a:ext>
                  </a:extLst>
                </a:gridCol>
                <a:gridCol w="837346">
                  <a:extLst>
                    <a:ext uri="{9D8B030D-6E8A-4147-A177-3AD203B41FA5}">
                      <a16:colId xmlns:a16="http://schemas.microsoft.com/office/drawing/2014/main" val="3942593083"/>
                    </a:ext>
                  </a:extLst>
                </a:gridCol>
                <a:gridCol w="837346">
                  <a:extLst>
                    <a:ext uri="{9D8B030D-6E8A-4147-A177-3AD203B41FA5}">
                      <a16:colId xmlns:a16="http://schemas.microsoft.com/office/drawing/2014/main" val="1544292004"/>
                    </a:ext>
                  </a:extLst>
                </a:gridCol>
                <a:gridCol w="837346">
                  <a:extLst>
                    <a:ext uri="{9D8B030D-6E8A-4147-A177-3AD203B41FA5}">
                      <a16:colId xmlns:a16="http://schemas.microsoft.com/office/drawing/2014/main" val="465700908"/>
                    </a:ext>
                  </a:extLst>
                </a:gridCol>
              </a:tblGrid>
              <a:tr h="304127">
                <a:tc grid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Tabela da Verdade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703709"/>
                  </a:ext>
                </a:extLst>
              </a:tr>
              <a:tr h="319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S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7835444"/>
                  </a:ext>
                </a:extLst>
              </a:tr>
              <a:tr h="3193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7813758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93114293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006829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9605835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02355829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5510559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90514434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5509908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2881743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8018222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02043207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6734880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8061128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4914972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0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5255473"/>
                  </a:ext>
                </a:extLst>
              </a:tr>
              <a:tr h="30412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pt-BR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1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59072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1091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D9320-AD69-55B0-CB44-915782591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DEC29B3-C1F2-6BD1-3506-2B25ECF8B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20 – Praticas no Tinkercad</a:t>
            </a:r>
            <a:endParaRPr lang="pt-BR" b="1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57D27A2E-ADC6-C4DD-4F7B-6440F9774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09" y="886300"/>
            <a:ext cx="9526590" cy="741999"/>
          </a:xfrm>
        </p:spPr>
        <p:txBody>
          <a:bodyPr>
            <a:normAutofit/>
          </a:bodyPr>
          <a:lstStyle/>
          <a:p>
            <a:r>
              <a:rPr lang="pt-BR" dirty="0"/>
              <a:t>Solução AB+C/D, utilizando portas lógicas AND, NOT e OR (74HC32). </a:t>
            </a: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3B0336B1-9915-A41E-94EC-9EF938D82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925" y="1628299"/>
            <a:ext cx="8836139" cy="506466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A651168-2AF4-0C98-9110-D7E5B79E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79" b="5258"/>
          <a:stretch>
            <a:fillRect/>
          </a:stretch>
        </p:blipFill>
        <p:spPr>
          <a:xfrm>
            <a:off x="374645" y="1630254"/>
            <a:ext cx="2383304" cy="1414171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7935415-B681-3D70-6774-814128AD2B74}"/>
              </a:ext>
            </a:extLst>
          </p:cNvPr>
          <p:cNvSpPr txBox="1"/>
          <p:nvPr/>
        </p:nvSpPr>
        <p:spPr>
          <a:xfrm>
            <a:off x="374645" y="1309665"/>
            <a:ext cx="2383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accent1"/>
                </a:solidFill>
              </a:rPr>
              <a:t>AND (74HC08)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3008901-3E3F-297A-27F4-3C45CCCE75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45" t="14750" r="4045" b="23000"/>
          <a:stretch>
            <a:fillRect/>
          </a:stretch>
        </p:blipFill>
        <p:spPr>
          <a:xfrm>
            <a:off x="374645" y="3413757"/>
            <a:ext cx="2383304" cy="146486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1C5D16-DD5B-311A-51B3-B5A854C52425}"/>
              </a:ext>
            </a:extLst>
          </p:cNvPr>
          <p:cNvSpPr txBox="1"/>
          <p:nvPr/>
        </p:nvSpPr>
        <p:spPr>
          <a:xfrm>
            <a:off x="374645" y="3077489"/>
            <a:ext cx="2383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accent1"/>
                </a:solidFill>
              </a:rPr>
              <a:t>NOT (74HC04)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6C4943F-3C75-1B96-8AB3-50B79B9642B9}"/>
              </a:ext>
            </a:extLst>
          </p:cNvPr>
          <p:cNvSpPr txBox="1"/>
          <p:nvPr/>
        </p:nvSpPr>
        <p:spPr>
          <a:xfrm>
            <a:off x="374645" y="4878626"/>
            <a:ext cx="2383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OR (74HC32)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1F9ECE4D-869B-FA1A-5B75-4FF4E171F8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51" t="15620" r="3374" b="23749"/>
          <a:stretch>
            <a:fillRect/>
          </a:stretch>
        </p:blipFill>
        <p:spPr>
          <a:xfrm>
            <a:off x="374645" y="5280281"/>
            <a:ext cx="2383304" cy="154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231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1FF5-E4BB-98CF-5090-B990B0244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6F8292-8BBC-7978-5610-EBF1EC20F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21– Praticas no Tinkercad</a:t>
            </a:r>
            <a:endParaRPr lang="pt-BR" b="1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E747AC68-8E35-0D14-EB2E-2668FE3DF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0" y="1200150"/>
            <a:ext cx="11282031" cy="741999"/>
          </a:xfrm>
        </p:spPr>
        <p:txBody>
          <a:bodyPr>
            <a:normAutofit/>
          </a:bodyPr>
          <a:lstStyle/>
          <a:p>
            <a:r>
              <a:rPr lang="pt-BR" dirty="0"/>
              <a:t>Solução /AB+/C/D, utilizando portas lógicas AND (74HC08), NOT (74HC04) e OR (74HC32). </a:t>
            </a:r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ECE29985-B310-088C-D5FB-EEDB56608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157" y="1942149"/>
            <a:ext cx="8447004" cy="457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38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EDDF-356D-C49C-6844-1EE04D7D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AE34366-FB79-94A9-3193-285EE4826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22– Praticas no Tinkercad</a:t>
            </a:r>
            <a:endParaRPr lang="pt-BR" b="1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2993E0B0-7F83-0F13-19B0-3268CBC22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404" y="923328"/>
            <a:ext cx="9669465" cy="741999"/>
          </a:xfrm>
        </p:spPr>
        <p:txBody>
          <a:bodyPr>
            <a:normAutofit/>
          </a:bodyPr>
          <a:lstStyle/>
          <a:p>
            <a:r>
              <a:rPr lang="pt-BR" dirty="0"/>
              <a:t>Montar um contador assíncrono utilizando FLIP-FLOPS JK e NOT.</a:t>
            </a:r>
          </a:p>
        </p:txBody>
      </p:sp>
      <p:pic>
        <p:nvPicPr>
          <p:cNvPr id="5" name="Imagem 4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057FAA9D-A639-60A0-4143-EAB6E86DB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80" y="1665327"/>
            <a:ext cx="8473741" cy="458698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8BE799A-CC05-3B4E-3ED5-FB6D8DC09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79" y="1665327"/>
            <a:ext cx="2124433" cy="242792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1204E42-62B4-20C8-81EE-527146DA89C6}"/>
              </a:ext>
            </a:extLst>
          </p:cNvPr>
          <p:cNvSpPr txBox="1"/>
          <p:nvPr/>
        </p:nvSpPr>
        <p:spPr>
          <a:xfrm>
            <a:off x="432078" y="1321652"/>
            <a:ext cx="2124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JK (74HC73)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A4ADD20-D550-006D-A7EF-1EB6C3127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7" y="4532770"/>
            <a:ext cx="2124433" cy="223837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CBEF056-8882-498E-4150-D68657C07E2D}"/>
              </a:ext>
            </a:extLst>
          </p:cNvPr>
          <p:cNvSpPr txBox="1"/>
          <p:nvPr/>
        </p:nvSpPr>
        <p:spPr>
          <a:xfrm>
            <a:off x="302642" y="4163438"/>
            <a:ext cx="2383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accent1"/>
                </a:solidFill>
              </a:rPr>
              <a:t>NOT (74HC04) </a:t>
            </a:r>
          </a:p>
        </p:txBody>
      </p:sp>
    </p:spTree>
    <p:extLst>
      <p:ext uri="{BB962C8B-B14F-4D97-AF65-F5344CB8AC3E}">
        <p14:creationId xmlns:p14="http://schemas.microsoft.com/office/powerpoint/2010/main" val="42224345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A7F3A-4353-08F0-EB3F-9EDB5075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3659AF5-C6D0-EAB4-0591-660E5A9F2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5032"/>
            <a:ext cx="9798052" cy="1035118"/>
          </a:xfrm>
        </p:spPr>
        <p:txBody>
          <a:bodyPr/>
          <a:lstStyle/>
          <a:p>
            <a:r>
              <a:rPr lang="pt-BR" dirty="0"/>
              <a:t>Exercício  23– Praticas no Tinkercad</a:t>
            </a:r>
            <a:endParaRPr lang="pt-BR" b="1" dirty="0"/>
          </a:p>
        </p:txBody>
      </p:sp>
      <p:sp>
        <p:nvSpPr>
          <p:cNvPr id="2" name="Espaço Reservado para Conteúdo 13">
            <a:extLst>
              <a:ext uri="{FF2B5EF4-FFF2-40B4-BE49-F238E27FC236}">
                <a16:creationId xmlns:a16="http://schemas.microsoft.com/office/drawing/2014/main" id="{F3F37759-C097-EAFA-308D-008FB6055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0" y="1200150"/>
            <a:ext cx="11282031" cy="741999"/>
          </a:xfrm>
        </p:spPr>
        <p:txBody>
          <a:bodyPr>
            <a:normAutofit/>
          </a:bodyPr>
          <a:lstStyle/>
          <a:p>
            <a:r>
              <a:rPr lang="pt-BR" dirty="0"/>
              <a:t>Montar um contador Síncrono que conte até 5, utilizando FLIP-FLOPS JK (74HC73), AND (74HC08), NOR (74HC02) </a:t>
            </a:r>
          </a:p>
        </p:txBody>
      </p:sp>
      <p:pic>
        <p:nvPicPr>
          <p:cNvPr id="6" name="Imagem 5" descr="Diagrama&#10;&#10;O conteúdo gerado por IA pode estar incorreto.">
            <a:extLst>
              <a:ext uri="{FF2B5EF4-FFF2-40B4-BE49-F238E27FC236}">
                <a16:creationId xmlns:a16="http://schemas.microsoft.com/office/drawing/2014/main" id="{5E91362F-DA3B-289A-FFD9-464E6356C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09" y="1942149"/>
            <a:ext cx="10755316" cy="464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11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0B8F1-6A55-4570-50B2-ABA01142B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C84EFED-0B64-88ED-8A81-6ED0D6CF15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651124"/>
            <a:ext cx="12191999" cy="2392363"/>
          </a:xfrm>
        </p:spPr>
        <p:txBody>
          <a:bodyPr/>
          <a:lstStyle/>
          <a:p>
            <a:pPr algn="ctr"/>
            <a:r>
              <a:rPr lang="pt-BR" sz="8800" dirty="0"/>
              <a:t>Obrigada!</a:t>
            </a:r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1280437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2113</TotalTime>
  <Words>1845</Words>
  <Application>Microsoft Office PowerPoint</Application>
  <PresentationFormat>Widescreen</PresentationFormat>
  <Paragraphs>637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Century Gothic</vt:lpstr>
      <vt:lpstr>Tw Cen MT</vt:lpstr>
      <vt:lpstr>Wingdings 3</vt:lpstr>
      <vt:lpstr>Íon</vt:lpstr>
      <vt:lpstr>Atividades Realizadas</vt:lpstr>
      <vt:lpstr>Exercício  1</vt:lpstr>
      <vt:lpstr>Exercício  2</vt:lpstr>
      <vt:lpstr>Exercício  2</vt:lpstr>
      <vt:lpstr>Exercício  2</vt:lpstr>
      <vt:lpstr>Exercício  3</vt:lpstr>
      <vt:lpstr>Exercício  3</vt:lpstr>
      <vt:lpstr>Exercício  4 – Flip-Flop D</vt:lpstr>
      <vt:lpstr>Exercício  5 – Flip-Flop RS </vt:lpstr>
      <vt:lpstr>Exercício  6 – Flip-Flop JK </vt:lpstr>
      <vt:lpstr>Exercício  7 –Decoders</vt:lpstr>
      <vt:lpstr>Exercício  8 – Multiplexer e Demultiplexer</vt:lpstr>
      <vt:lpstr>Exercício  9 – Arithmetic - Adders Half</vt:lpstr>
      <vt:lpstr>Exercício  10 – Arithmetic - Adders Full </vt:lpstr>
      <vt:lpstr>Exercício  11 – Universal Shift Register SN74AS194</vt:lpstr>
      <vt:lpstr>Exercício  12 – Comparador </vt:lpstr>
      <vt:lpstr>Exercício  13 – Contadores </vt:lpstr>
      <vt:lpstr>Exercício  14 – Flip-Flop JK - Assíncrono  </vt:lpstr>
      <vt:lpstr>Exercício  15 – Flip-Flop JK - Síncrono  </vt:lpstr>
      <vt:lpstr>Exercício  16 – Simplificação com Mapa de Karnaugh </vt:lpstr>
      <vt:lpstr>Exercício  17 – Simplificação com Mapa de Karnaugh </vt:lpstr>
      <vt:lpstr>Exercício  18 – Mapa de Karnaugh</vt:lpstr>
      <vt:lpstr>Exercício  19 – Mapa de Karnaugh</vt:lpstr>
      <vt:lpstr>Exercício  20 – Praticas no Tinkercad</vt:lpstr>
      <vt:lpstr>Exercício  21– Praticas no Tinkercad</vt:lpstr>
      <vt:lpstr>Exercício  22– Praticas no Tinkercad</vt:lpstr>
      <vt:lpstr>Exercício  23– Praticas no Tinkercad</vt:lpstr>
      <vt:lpstr>Obrigada!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 Realizadas</dc:title>
  <dc:creator>Conta da Microsoft</dc:creator>
  <cp:lastModifiedBy>Bruna Madeira</cp:lastModifiedBy>
  <cp:revision>89</cp:revision>
  <dcterms:created xsi:type="dcterms:W3CDTF">2026-02-05T14:28:44Z</dcterms:created>
  <dcterms:modified xsi:type="dcterms:W3CDTF">2026-02-13T15:57:47Z</dcterms:modified>
</cp:coreProperties>
</file>