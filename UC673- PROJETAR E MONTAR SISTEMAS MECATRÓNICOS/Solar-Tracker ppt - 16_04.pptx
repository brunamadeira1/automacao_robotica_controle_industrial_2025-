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askervville" panose="020B0604020202020204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Poppins" panose="00000500000000000000" pitchFamily="2" charset="0"/>
      <p:regular r:id="rId18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1815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824E5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CDF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631" y="138946"/>
            <a:ext cx="5301139" cy="79517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9129" y="2835473"/>
            <a:ext cx="6665952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Solar Tracker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649129" y="3946803"/>
            <a:ext cx="7845743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Desenvolvimento e implementação de um sistema mecatrónico compacto, com alimentação por energia renovável, controlo programável e atuação por servomotores. 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9129" y="5045512"/>
            <a:ext cx="2312313" cy="348496"/>
          </a:xfrm>
          <a:prstGeom prst="roundRect">
            <a:avLst>
              <a:gd name="adj" fmla="val 63870"/>
            </a:avLst>
          </a:prstGeom>
          <a:solidFill>
            <a:srgbClr val="ECDFE3"/>
          </a:solidFill>
          <a:ln/>
        </p:spPr>
      </p:sp>
      <p:sp>
        <p:nvSpPr>
          <p:cNvPr id="7" name="Text 4"/>
          <p:cNvSpPr/>
          <p:nvPr/>
        </p:nvSpPr>
        <p:spPr>
          <a:xfrm>
            <a:off x="760333" y="5101114"/>
            <a:ext cx="2089904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FORMANDA: BRUNA MADEIRA 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054072" y="5045512"/>
            <a:ext cx="5403413" cy="348496"/>
          </a:xfrm>
          <a:prstGeom prst="roundRect">
            <a:avLst>
              <a:gd name="adj" fmla="val 63870"/>
            </a:avLst>
          </a:prstGeom>
          <a:solidFill>
            <a:srgbClr val="ECDFE3"/>
          </a:solidFill>
          <a:ln/>
        </p:spPr>
      </p:sp>
      <p:sp>
        <p:nvSpPr>
          <p:cNvPr id="9" name="Text 6"/>
          <p:cNvSpPr/>
          <p:nvPr/>
        </p:nvSpPr>
        <p:spPr>
          <a:xfrm>
            <a:off x="3165277" y="5101114"/>
            <a:ext cx="5181005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TÉC. ESPECIALISTA EM AUTOMAÇÃO, ROBÓTICA E CONTROLO INDUSTRIAL 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1164431"/>
            <a:ext cx="6665952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Visão Geral do Projeto</a:t>
            </a:r>
            <a:endParaRPr lang="en-US" sz="5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29" y="2484358"/>
            <a:ext cx="4372094" cy="4372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1280" y="3266123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Objetivo Principal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1280" y="3867983"/>
            <a:ext cx="8507492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Desenvolver um seguidor solar de dois eixos que otimize continuamente a exposição de um painel fotovoltaico, utilizando uma estratégia algorítmica baseada nos dados da ferramenta </a:t>
            </a:r>
            <a:r>
              <a:rPr lang="en-US" sz="1450" b="1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SunCalc</a:t>
            </a: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sem depender exclusivamente de sensores fotossensíveis.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1280" y="4966692"/>
            <a:ext cx="8507492" cy="1084659"/>
          </a:xfrm>
          <a:prstGeom prst="roundRect">
            <a:avLst>
              <a:gd name="adj" fmla="val 25652"/>
            </a:avLst>
          </a:prstGeom>
          <a:solidFill>
            <a:srgbClr val="E2CFD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6661" y="5241846"/>
            <a:ext cx="231815" cy="1853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83856" y="5198388"/>
            <a:ext cx="7719536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sistema determina os ângulos ideais de </a:t>
            </a:r>
            <a:r>
              <a:rPr lang="en-US" sz="14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azimute</a:t>
            </a: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</a:t>
            </a:r>
            <a:r>
              <a:rPr lang="en-US" sz="14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inclinação (Tilt)</a:t>
            </a: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com base na posição solar calculada para a hora e localização atuais.</a:t>
            </a:r>
            <a:endParaRPr lang="en-US" sz="14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D33798-AD97-3CD3-3574-89FCE3AE0194}"/>
              </a:ext>
            </a:extLst>
          </p:cNvPr>
          <p:cNvSpPr txBox="1"/>
          <p:nvPr/>
        </p:nvSpPr>
        <p:spPr>
          <a:xfrm>
            <a:off x="11649456" y="7571232"/>
            <a:ext cx="2980944" cy="65836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1306830"/>
            <a:ext cx="7427714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Componentes do Sistema</a:t>
            </a:r>
            <a:endParaRPr lang="en-US" sz="5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129" y="2510909"/>
            <a:ext cx="370880" cy="370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9129" y="3113603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Arduino 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9129" y="3641288"/>
            <a:ext cx="4289465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Circuito integrado programável que processa dados e controla dispositivos de forma automática.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70408" y="2510909"/>
            <a:ext cx="370880" cy="370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70408" y="3113603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Display LCD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5170408" y="3641288"/>
            <a:ext cx="4289465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Inicialmente 16×2, evoluindo para 20×4 com interface I2C para maior capacidade de informação.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1687" y="2510909"/>
            <a:ext cx="370880" cy="370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91687" y="3113603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Servomotores</a:t>
            </a:r>
            <a:endParaRPr lang="en-US" sz="2600" dirty="0"/>
          </a:p>
        </p:txBody>
      </p:sp>
      <p:sp>
        <p:nvSpPr>
          <p:cNvPr id="11" name="Text 6"/>
          <p:cNvSpPr/>
          <p:nvPr/>
        </p:nvSpPr>
        <p:spPr>
          <a:xfrm>
            <a:off x="9691687" y="3641288"/>
            <a:ext cx="4289584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para controlo do azimute e outro para controlo da inclinação (tilt) do painel.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129" y="4902279"/>
            <a:ext cx="370880" cy="370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9129" y="5504974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Sensor LDR</a:t>
            </a:r>
            <a:endParaRPr lang="en-US" sz="2600" dirty="0"/>
          </a:p>
        </p:txBody>
      </p:sp>
      <p:sp>
        <p:nvSpPr>
          <p:cNvPr id="14" name="Text 8"/>
          <p:cNvSpPr/>
          <p:nvPr/>
        </p:nvSpPr>
        <p:spPr>
          <a:xfrm>
            <a:off x="649129" y="6032659"/>
            <a:ext cx="4289465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Light Dependent Resistor para classificação das condições de luminosidade ambiente.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70408" y="4902279"/>
            <a:ext cx="370880" cy="370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170408" y="5504974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Alimentação 5V</a:t>
            </a:r>
            <a:endParaRPr lang="en-US" sz="2600" dirty="0"/>
          </a:p>
        </p:txBody>
      </p:sp>
      <p:sp>
        <p:nvSpPr>
          <p:cNvPr id="17" name="Text 10"/>
          <p:cNvSpPr/>
          <p:nvPr/>
        </p:nvSpPr>
        <p:spPr>
          <a:xfrm>
            <a:off x="5170408" y="6032659"/>
            <a:ext cx="4289465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Fonte de alimentação estabilizada a 5V para alimentação de todos os componentes do sistema.</a:t>
            </a:r>
            <a:endParaRPr lang="en-US" sz="14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91687" y="4902279"/>
            <a:ext cx="370880" cy="3708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691687" y="5504974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RTC</a:t>
            </a:r>
            <a:endParaRPr lang="en-US" sz="2600" dirty="0"/>
          </a:p>
        </p:txBody>
      </p:sp>
      <p:sp>
        <p:nvSpPr>
          <p:cNvPr id="20" name="Text 12"/>
          <p:cNvSpPr/>
          <p:nvPr/>
        </p:nvSpPr>
        <p:spPr>
          <a:xfrm>
            <a:off x="9691687" y="6032659"/>
            <a:ext cx="4289584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Módulo Real-Time Clock para gestão temporal autónoma.</a:t>
            </a:r>
            <a:endParaRPr lang="en-US" sz="14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5A69B8-5406-897B-4294-064F54FDF8E4}"/>
              </a:ext>
            </a:extLst>
          </p:cNvPr>
          <p:cNvSpPr txBox="1"/>
          <p:nvPr/>
        </p:nvSpPr>
        <p:spPr>
          <a:xfrm>
            <a:off x="11649456" y="7571232"/>
            <a:ext cx="2980944" cy="65836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0"/>
            <a:ext cx="3657600" cy="8229600"/>
          </a:xfrm>
          <a:prstGeom prst="rect">
            <a:avLst/>
          </a:prstGeom>
          <a:solidFill>
            <a:srgbClr val="ECDF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5431" y="2378631"/>
            <a:ext cx="3472339" cy="34723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27929" y="1909524"/>
            <a:ext cx="7916942" cy="666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41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Etapa 1 — Estudo da Posição Solar</a:t>
            </a:r>
            <a:endParaRPr lang="en-US" sz="4150" dirty="0"/>
          </a:p>
        </p:txBody>
      </p:sp>
      <p:sp>
        <p:nvSpPr>
          <p:cNvPr id="5" name="Shape 2"/>
          <p:cNvSpPr/>
          <p:nvPr/>
        </p:nvSpPr>
        <p:spPr>
          <a:xfrm>
            <a:off x="649129" y="2854166"/>
            <a:ext cx="4744522" cy="1788557"/>
          </a:xfrm>
          <a:prstGeom prst="roundRect">
            <a:avLst>
              <a:gd name="adj" fmla="val 15556"/>
            </a:avLst>
          </a:prstGeom>
          <a:solidFill>
            <a:srgbClr val="ECDFE3"/>
          </a:solidFill>
          <a:ln/>
        </p:spPr>
      </p:sp>
      <p:sp>
        <p:nvSpPr>
          <p:cNvPr id="6" name="Text 3"/>
          <p:cNvSpPr/>
          <p:nvPr/>
        </p:nvSpPr>
        <p:spPr>
          <a:xfrm>
            <a:off x="834509" y="3039547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Azimute Solar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34509" y="3567232"/>
            <a:ext cx="4373761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Ângulo horizontal que indica a direção do sol em relação ao Norte, variando entre 0° e 360°.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579031" y="2854166"/>
            <a:ext cx="4744641" cy="1788557"/>
          </a:xfrm>
          <a:prstGeom prst="roundRect">
            <a:avLst>
              <a:gd name="adj" fmla="val 15556"/>
            </a:avLst>
          </a:prstGeom>
          <a:solidFill>
            <a:srgbClr val="ECDFE3"/>
          </a:solidFill>
          <a:ln/>
        </p:spPr>
      </p:sp>
      <p:sp>
        <p:nvSpPr>
          <p:cNvPr id="9" name="Text 6"/>
          <p:cNvSpPr/>
          <p:nvPr/>
        </p:nvSpPr>
        <p:spPr>
          <a:xfrm>
            <a:off x="5764411" y="3039547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Ângulo de Inclinação 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764411" y="3567232"/>
            <a:ext cx="4373880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Ângulo vertical que mede a altura do sol acima do horizonte, entre 0° (nascente/poente) e 90° (zénite).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49129" y="4828103"/>
            <a:ext cx="9674543" cy="1491853"/>
          </a:xfrm>
          <a:prstGeom prst="roundRect">
            <a:avLst>
              <a:gd name="adj" fmla="val 18650"/>
            </a:avLst>
          </a:prstGeom>
          <a:solidFill>
            <a:srgbClr val="ECDFE3"/>
          </a:solidFill>
          <a:ln/>
        </p:spPr>
      </p:sp>
      <p:sp>
        <p:nvSpPr>
          <p:cNvPr id="12" name="Text 9"/>
          <p:cNvSpPr/>
          <p:nvPr/>
        </p:nvSpPr>
        <p:spPr>
          <a:xfrm>
            <a:off x="834509" y="5013484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Ferramenta SunCalc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34509" y="5541169"/>
            <a:ext cx="9303782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Plataforma online utilizada para obter dados precisos sobre o movimento aparente do sol para qualquer localização e instante.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832" y="463748"/>
            <a:ext cx="7953018" cy="53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Etapa 2 — Validação com Controlo Manual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940832" y="1563410"/>
            <a:ext cx="2655927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Metodologia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40832" y="2013109"/>
            <a:ext cx="6193988" cy="849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 base nos dados extraídos do SunCalc, é construída uma </a:t>
            </a:r>
            <a:r>
              <a:rPr lang="en-US" sz="1150" b="1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tabela de referência angular</a:t>
            </a: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Potenciómetros permitem efetuar variações manuais dos ângulos de azimute e inclinação, validando a estrutura mecânica e os intervalos de movimento.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40832" y="2968228"/>
            <a:ext cx="6193988" cy="719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Feedback em tempo real no display LCD 16×2</a:t>
            </a:r>
            <a:endParaRPr lang="en-US" sz="11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Verificação dos limites físicos dos eixos</a:t>
            </a:r>
            <a:endParaRPr lang="en-US" sz="11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Configuração inicial do módulo RTC (data e hora)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40832" y="3819882"/>
            <a:ext cx="6193988" cy="971312"/>
          </a:xfrm>
          <a:prstGeom prst="roundRect">
            <a:avLst>
              <a:gd name="adj" fmla="val 22826"/>
            </a:avLst>
          </a:prstGeom>
          <a:solidFill>
            <a:srgbClr val="E2CFD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88" y="4027646"/>
            <a:ext cx="184666" cy="14775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21011" y="3974544"/>
            <a:ext cx="5566053" cy="63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 etapa foi essencial para </a:t>
            </a:r>
            <a:r>
              <a:rPr lang="en-US" sz="11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validar mecanicamente</a:t>
            </a: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 sistema antes de avançar para o controlo automático, evitando erros de posicionamento nas fases seguintes.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8169" y="4923592"/>
            <a:ext cx="3079313" cy="2435543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4010" y="1303853"/>
            <a:ext cx="2751773" cy="279165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7028" y="4227909"/>
            <a:ext cx="3985736" cy="34055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C42E712-C937-2DB0-4D4B-CC4CDAD7A290}"/>
              </a:ext>
            </a:extLst>
          </p:cNvPr>
          <p:cNvSpPr txBox="1"/>
          <p:nvPr/>
        </p:nvSpPr>
        <p:spPr>
          <a:xfrm>
            <a:off x="12746736" y="7571232"/>
            <a:ext cx="1883664" cy="65836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65734" y="377666"/>
            <a:ext cx="6881812" cy="437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Etapa 3 — Integração do Sistema Automático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2065734" y="1289209"/>
            <a:ext cx="5856684" cy="6208157"/>
          </a:xfrm>
          <a:prstGeom prst="roundRect">
            <a:avLst>
              <a:gd name="adj" fmla="val 3118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2059662" y="1289209"/>
            <a:ext cx="5868829" cy="6208157"/>
          </a:xfrm>
          <a:prstGeom prst="roundRect">
            <a:avLst>
              <a:gd name="adj" fmla="val 311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2211705" y="1410891"/>
            <a:ext cx="5564743" cy="5964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RTC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RtcDateTime now = rtc.GetDateTime();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int hora = now.Hour();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int minuto = now.Minute();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char horaBuffer[6];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sprintf(horaBuffer,"%02d:%02d",hora,minuto);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int horaAtual = hora*60 + minuto;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int horaInicio = tabelaSolar[0].hora*60 + tabelaSolar[0].minuto;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int horaFim = tabelaSolar[52].hora*60 + tabelaSolar[52].minuto; //Nº '52' intervalos da tabela (13h × 4 intervalos - 15min em 15 min)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estado;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azimutReal = 0;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altitudeReal = 0;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int servoPosX = 90;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int servoPosY = 0;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if(horaAtual &lt; horaInicio || horaAtual &gt; horaFim){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estado = "NIGHT";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servoPosX = 90;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servoPosY = 0;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estado = avaliarEstadoTempo(valorLDR);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if(estado != "CLOUDY"){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PosicaoSolarHora pos = encontrarPosicaoMaisProxima(hora,minuto);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azimutReal = pos.azimuth;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altitudeReal = pos.altitude;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servoPosX = map(pos.azimuth, 87, 272, 0, 180);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servoPosY = map(pos.altitude, 0, 60, 0, 75); //inclinação máxima 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servoPosX = constrain(servoPosX,0,180);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servoPosY = constrain(servoPosY,0,75);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6981" y="1014532"/>
            <a:ext cx="218717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Lógica de Controlo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6981" y="1367671"/>
            <a:ext cx="4345186" cy="48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RTC fornece a hora atual ao sistema, que consulta a tabela de posições solares e utiliza a função </a:t>
            </a:r>
            <a:r>
              <a:rPr lang="en-US" sz="95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map()</a:t>
            </a: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para converter coordenadas em ângulos compatíveis com os servomotores.</a:t>
            </a:r>
            <a:endParaRPr lang="en-US" sz="9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093" y="1941076"/>
            <a:ext cx="2544961" cy="219587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6981" y="4226719"/>
            <a:ext cx="4345186" cy="726400"/>
          </a:xfrm>
          <a:prstGeom prst="roundRect">
            <a:avLst>
              <a:gd name="adj" fmla="val 25136"/>
            </a:avLst>
          </a:prstGeom>
          <a:solidFill>
            <a:srgbClr val="B6FCB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663" y="4394121"/>
            <a:ext cx="152043" cy="1216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22387" y="4336852"/>
            <a:ext cx="3828098" cy="48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Durante o período noturno, o sistema regressa automaticamente à </a:t>
            </a:r>
            <a:r>
              <a:rPr lang="en-US" sz="9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posição inicial (home position)</a:t>
            </a:r>
            <a:r>
              <a:rPr lang="en-US" sz="9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ficando pronto para o dia seguinte.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537" y="5042892"/>
            <a:ext cx="2302073" cy="27191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3C096C3-F0CC-6E57-C956-DFF266433103}"/>
              </a:ext>
            </a:extLst>
          </p:cNvPr>
          <p:cNvSpPr txBox="1"/>
          <p:nvPr/>
        </p:nvSpPr>
        <p:spPr>
          <a:xfrm>
            <a:off x="12450484" y="7571232"/>
            <a:ext cx="2179915" cy="65836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5816" y="509230"/>
            <a:ext cx="8198763" cy="541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824E5C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Etapa 4 — Sensores e Melhoria da Interface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15816" y="1234321"/>
            <a:ext cx="12998648" cy="6486049"/>
          </a:xfrm>
          <a:prstGeom prst="roundRect">
            <a:avLst>
              <a:gd name="adj" fmla="val 3485"/>
            </a:avLst>
          </a:prstGeom>
          <a:solidFill>
            <a:srgbClr val="ECDFE3"/>
          </a:solidFill>
          <a:ln/>
        </p:spPr>
      </p:sp>
      <p:sp>
        <p:nvSpPr>
          <p:cNvPr id="6" name="Shape 3"/>
          <p:cNvSpPr/>
          <p:nvPr/>
        </p:nvSpPr>
        <p:spPr>
          <a:xfrm>
            <a:off x="815816" y="1234321"/>
            <a:ext cx="4332803" cy="6486049"/>
          </a:xfrm>
          <a:prstGeom prst="roundRect">
            <a:avLst>
              <a:gd name="adj" fmla="val 5218"/>
            </a:avLst>
          </a:prstGeom>
          <a:solidFill>
            <a:srgbClr val="ECDFE3"/>
          </a:solidFill>
          <a:ln/>
        </p:spPr>
      </p:sp>
      <p:sp>
        <p:nvSpPr>
          <p:cNvPr id="7" name="Text 4"/>
          <p:cNvSpPr/>
          <p:nvPr/>
        </p:nvSpPr>
        <p:spPr>
          <a:xfrm>
            <a:off x="938213" y="1356717"/>
            <a:ext cx="2707958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Sensor LDR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38213" y="1768554"/>
            <a:ext cx="3904298" cy="655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Classifica as condições de luminosidade em três estados: </a:t>
            </a:r>
            <a:r>
              <a:rPr lang="en-US" sz="11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</a:t>
            </a: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11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PARTLY </a:t>
            </a: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</a:t>
            </a:r>
            <a:r>
              <a:rPr lang="en-US" sz="11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CLOUDY</a:t>
            </a: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complementando a lógica de controlo algorítmica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38213" y="2497455"/>
            <a:ext cx="3904298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38213" y="2789396"/>
            <a:ext cx="3904298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1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917" y="3145631"/>
            <a:ext cx="2538889" cy="10713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8213" y="4354711"/>
            <a:ext cx="3904298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1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0917" y="4710946"/>
            <a:ext cx="2538889" cy="10596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38213" y="5908358"/>
            <a:ext cx="3904298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0917" y="6264593"/>
            <a:ext cx="2538889" cy="97714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38213" y="7379494"/>
            <a:ext cx="3904298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148620" y="1234321"/>
            <a:ext cx="4332923" cy="6486049"/>
          </a:xfrm>
          <a:prstGeom prst="rect">
            <a:avLst/>
          </a:prstGeom>
          <a:solidFill>
            <a:srgbClr val="ECDFE3"/>
          </a:solidFill>
          <a:ln/>
        </p:spPr>
      </p:sp>
      <p:sp>
        <p:nvSpPr>
          <p:cNvPr id="18" name="Shape 12"/>
          <p:cNvSpPr/>
          <p:nvPr/>
        </p:nvSpPr>
        <p:spPr>
          <a:xfrm>
            <a:off x="5148620" y="1234321"/>
            <a:ext cx="15240" cy="6486049"/>
          </a:xfrm>
          <a:prstGeom prst="roundRect">
            <a:avLst>
              <a:gd name="adj" fmla="val 1483362"/>
            </a:avLst>
          </a:prstGeom>
          <a:solidFill>
            <a:srgbClr val="D2C5C9"/>
          </a:solidFill>
          <a:ln/>
        </p:spPr>
      </p:sp>
      <p:sp>
        <p:nvSpPr>
          <p:cNvPr id="19" name="Text 13"/>
          <p:cNvSpPr/>
          <p:nvPr/>
        </p:nvSpPr>
        <p:spPr>
          <a:xfrm>
            <a:off x="5454729" y="1356717"/>
            <a:ext cx="3248382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Display LCD 20×4 com I2C</a:t>
            </a:r>
            <a:endParaRPr lang="en-US" sz="2100" dirty="0"/>
          </a:p>
        </p:txBody>
      </p:sp>
      <p:sp>
        <p:nvSpPr>
          <p:cNvPr id="20" name="Text 14"/>
          <p:cNvSpPr/>
          <p:nvPr/>
        </p:nvSpPr>
        <p:spPr>
          <a:xfrm>
            <a:off x="5454729" y="1768554"/>
            <a:ext cx="3720703" cy="87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Substitui o display anterior, permitindo apresentar simultaneamente: hora atual, estado do sistema, identificação do grupo e valores de azimute e inclinação.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454729" y="2715935"/>
            <a:ext cx="3720703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endParaRPr lang="en-US" sz="11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4729" y="3072170"/>
            <a:ext cx="2538889" cy="3556873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960263" y="4288988"/>
            <a:ext cx="376714" cy="376714"/>
          </a:xfrm>
          <a:prstGeom prst="roundRect">
            <a:avLst>
              <a:gd name="adj" fmla="val 60010"/>
            </a:avLst>
          </a:prstGeom>
          <a:solidFill>
            <a:srgbClr val="824E5C"/>
          </a:solidFill>
          <a:ln w="15240">
            <a:solidFill>
              <a:srgbClr val="D2C5C9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9481542" y="1234321"/>
            <a:ext cx="4332923" cy="6486049"/>
          </a:xfrm>
          <a:prstGeom prst="rect">
            <a:avLst/>
          </a:prstGeom>
          <a:solidFill>
            <a:srgbClr val="ECDFE3"/>
          </a:solidFill>
          <a:ln/>
        </p:spPr>
      </p:sp>
      <p:sp>
        <p:nvSpPr>
          <p:cNvPr id="25" name="Shape 18"/>
          <p:cNvSpPr/>
          <p:nvPr/>
        </p:nvSpPr>
        <p:spPr>
          <a:xfrm>
            <a:off x="9481542" y="1234321"/>
            <a:ext cx="15240" cy="6486049"/>
          </a:xfrm>
          <a:prstGeom prst="roundRect">
            <a:avLst>
              <a:gd name="adj" fmla="val 1483362"/>
            </a:avLst>
          </a:prstGeom>
          <a:solidFill>
            <a:srgbClr val="D2C5C9"/>
          </a:solidFill>
          <a:ln/>
        </p:spPr>
      </p:sp>
      <p:sp>
        <p:nvSpPr>
          <p:cNvPr id="26" name="Text 19"/>
          <p:cNvSpPr/>
          <p:nvPr/>
        </p:nvSpPr>
        <p:spPr>
          <a:xfrm>
            <a:off x="9787652" y="1356717"/>
            <a:ext cx="2707958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Serial Monitor </a:t>
            </a:r>
            <a:endParaRPr lang="en-US" sz="2100" dirty="0"/>
          </a:p>
        </p:txBody>
      </p:sp>
      <p:sp>
        <p:nvSpPr>
          <p:cNvPr id="27" name="Text 20"/>
          <p:cNvSpPr/>
          <p:nvPr/>
        </p:nvSpPr>
        <p:spPr>
          <a:xfrm>
            <a:off x="9787652" y="1768554"/>
            <a:ext cx="3904417" cy="87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Ferramenta de comunicação que permite visualizar dados e enviar comandos ao microcontrolador em tempo real, facilitando o diagnóstico e a correção de erros em bancada</a:t>
            </a:r>
            <a:endParaRPr lang="en-US" sz="11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34568" y="2780228"/>
            <a:ext cx="1810583" cy="1330047"/>
          </a:xfrm>
          <a:prstGeom prst="rect">
            <a:avLst/>
          </a:prstGeom>
        </p:spPr>
      </p:pic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24091" y="4248031"/>
            <a:ext cx="1831419" cy="1392793"/>
          </a:xfrm>
          <a:prstGeom prst="rect">
            <a:avLst/>
          </a:prstGeom>
        </p:spPr>
      </p:pic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34568" y="5778579"/>
            <a:ext cx="1810583" cy="1432917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9293185" y="4288988"/>
            <a:ext cx="376714" cy="376714"/>
          </a:xfrm>
          <a:prstGeom prst="roundRect">
            <a:avLst>
              <a:gd name="adj" fmla="val 60010"/>
            </a:avLst>
          </a:prstGeom>
          <a:solidFill>
            <a:srgbClr val="824E5C"/>
          </a:solidFill>
          <a:ln w="15240">
            <a:solidFill>
              <a:srgbClr val="D2C5C9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65734" y="377428"/>
            <a:ext cx="7221855" cy="54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Etapa 5 — Persistência com EEPROM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2065734" y="1123712"/>
            <a:ext cx="2626043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Robustez em Caso de Falha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065734" y="1476851"/>
            <a:ext cx="5100995" cy="48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memória </a:t>
            </a:r>
            <a:r>
              <a:rPr lang="en-US" sz="950" b="1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EEPROM</a:t>
            </a: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 microcontrolador é utilizada para guardar periodicamente o estado do sistema. Em caso de falha de energia ou reinício inesperado, o sistema recupera automaticamente: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065734" y="2032278"/>
            <a:ext cx="5100995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Última posição angular registada (azimute e inclinação)</a:t>
            </a:r>
            <a:endParaRPr lang="en-US" sz="9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Informações de configuração relevantes</a:t>
            </a:r>
            <a:endParaRPr lang="en-US" sz="9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Estado operacional anterior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734" y="2661404"/>
            <a:ext cx="5100995" cy="510099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5734" y="2661404"/>
            <a:ext cx="5100995" cy="51009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471291" y="1585793"/>
            <a:ext cx="5100995" cy="5724525"/>
          </a:xfrm>
          <a:prstGeom prst="roundRect">
            <a:avLst>
              <a:gd name="adj" fmla="val 3580"/>
            </a:avLst>
          </a:prstGeom>
          <a:solidFill>
            <a:srgbClr val="F2F2F2"/>
          </a:solidFill>
          <a:ln/>
        </p:spPr>
      </p:sp>
      <p:sp>
        <p:nvSpPr>
          <p:cNvPr id="9" name="Shape 5"/>
          <p:cNvSpPr/>
          <p:nvPr/>
        </p:nvSpPr>
        <p:spPr>
          <a:xfrm>
            <a:off x="7465219" y="1585793"/>
            <a:ext cx="5113139" cy="5724525"/>
          </a:xfrm>
          <a:prstGeom prst="roundRect">
            <a:avLst>
              <a:gd name="adj" fmla="val 357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/>
          <p:nvPr/>
        </p:nvSpPr>
        <p:spPr>
          <a:xfrm>
            <a:off x="7617262" y="1707475"/>
            <a:ext cx="4809053" cy="5481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---------------- EEPROM ----------------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void salvarEEPROM(int sx, int sy, String estado) {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EEPROM_Data data;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data.servoX_pos = sx;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data.servoY_pos = sy;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data.limiar_sol_forte = LIMIAR_SOL_FORTE;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data.limiar_luz_media = LIMIAR_LUZ_MEDIA;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estado.toCharArray(data.estado, 10);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EEPROM.put(EEPROM_ADDR, data);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void carregarEEPROM(int &amp;sx, int &amp;sy, int &amp;lsf, int &amp;llm, String &amp;estado) {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EEPROM_Data data;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EEPROM.get(EEPROM_ADDR, data);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if (data.servoX_pos &lt; 0 || data.servoX_pos &gt; 180) {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sx = 90;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sy = 0;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lsf = 800;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llm = 500;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estado = "INIT";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sx = data.servoX_pos;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sy = data.servoY_pos;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lsf = data.limiar_sol_forte;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llm = data.limiar_luz_media;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estado = String(data.estado);</a:t>
            </a:r>
            <a:endParaRPr lang="en-US" sz="95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B75007-3471-2D23-99EF-905C2914B086}"/>
              </a:ext>
            </a:extLst>
          </p:cNvPr>
          <p:cNvSpPr txBox="1"/>
          <p:nvPr/>
        </p:nvSpPr>
        <p:spPr>
          <a:xfrm>
            <a:off x="12801600" y="7571232"/>
            <a:ext cx="1828800" cy="65836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1186458"/>
            <a:ext cx="9031962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Síntese e Resultados Esperados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649129" y="2390537"/>
            <a:ext cx="6573322" cy="2233613"/>
          </a:xfrm>
          <a:prstGeom prst="roundRect">
            <a:avLst>
              <a:gd name="adj" fmla="val 12457"/>
            </a:avLst>
          </a:prstGeom>
          <a:solidFill>
            <a:srgbClr val="ECDFE3"/>
          </a:solidFill>
          <a:ln/>
        </p:spPr>
      </p:sp>
      <p:sp>
        <p:nvSpPr>
          <p:cNvPr id="4" name="Shape 2"/>
          <p:cNvSpPr/>
          <p:nvPr/>
        </p:nvSpPr>
        <p:spPr>
          <a:xfrm>
            <a:off x="834509" y="2575917"/>
            <a:ext cx="556379" cy="556379"/>
          </a:xfrm>
          <a:prstGeom prst="roundRect">
            <a:avLst>
              <a:gd name="adj" fmla="val 16433197"/>
            </a:avLst>
          </a:prstGeom>
          <a:solidFill>
            <a:srgbClr val="C7A2A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7504" y="2728793"/>
            <a:ext cx="250388" cy="2503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4509" y="3317677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Rastreamento Preciso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34509" y="3845362"/>
            <a:ext cx="6202561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Posicionamento ótimo do painel ao longo do dia com base em dados calculados de azimute e elevação solar.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407831" y="2390537"/>
            <a:ext cx="6573441" cy="2233613"/>
          </a:xfrm>
          <a:prstGeom prst="roundRect">
            <a:avLst>
              <a:gd name="adj" fmla="val 12457"/>
            </a:avLst>
          </a:prstGeom>
          <a:solidFill>
            <a:srgbClr val="ECDFE3"/>
          </a:solidFill>
          <a:ln/>
        </p:spPr>
      </p:sp>
      <p:sp>
        <p:nvSpPr>
          <p:cNvPr id="9" name="Shape 6"/>
          <p:cNvSpPr/>
          <p:nvPr/>
        </p:nvSpPr>
        <p:spPr>
          <a:xfrm>
            <a:off x="7593211" y="2575917"/>
            <a:ext cx="556379" cy="556379"/>
          </a:xfrm>
          <a:prstGeom prst="roundRect">
            <a:avLst>
              <a:gd name="adj" fmla="val 16433197"/>
            </a:avLst>
          </a:prstGeom>
          <a:solidFill>
            <a:srgbClr val="C7A2A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6206" y="2728793"/>
            <a:ext cx="250388" cy="2503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93211" y="3317677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Automação Completa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7593211" y="3845362"/>
            <a:ext cx="6202680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Sistema autónomo com gestão temporal via RTC, sem intervenção manual durante a operação normal.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49129" y="4809530"/>
            <a:ext cx="6573322" cy="2233613"/>
          </a:xfrm>
          <a:prstGeom prst="roundRect">
            <a:avLst>
              <a:gd name="adj" fmla="val 12457"/>
            </a:avLst>
          </a:prstGeom>
          <a:solidFill>
            <a:srgbClr val="ECDFE3"/>
          </a:solidFill>
          <a:ln/>
        </p:spPr>
      </p:sp>
      <p:sp>
        <p:nvSpPr>
          <p:cNvPr id="14" name="Shape 10"/>
          <p:cNvSpPr/>
          <p:nvPr/>
        </p:nvSpPr>
        <p:spPr>
          <a:xfrm>
            <a:off x="834509" y="4994910"/>
            <a:ext cx="556379" cy="556379"/>
          </a:xfrm>
          <a:prstGeom prst="roundRect">
            <a:avLst>
              <a:gd name="adj" fmla="val 16433197"/>
            </a:avLst>
          </a:prstGeom>
          <a:solidFill>
            <a:srgbClr val="C7A2A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7504" y="5147786"/>
            <a:ext cx="250388" cy="2503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4509" y="5736669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Robustez e Fiabilidade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834509" y="6264354"/>
            <a:ext cx="6202561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Recuperação automática de falhas através da EEPROM e classificação de condições atmosféricas pelo LDR.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7407831" y="4809530"/>
            <a:ext cx="6573441" cy="2233613"/>
          </a:xfrm>
          <a:prstGeom prst="roundRect">
            <a:avLst>
              <a:gd name="adj" fmla="val 12457"/>
            </a:avLst>
          </a:prstGeom>
          <a:solidFill>
            <a:srgbClr val="ECDFE3"/>
          </a:solidFill>
          <a:ln/>
        </p:spPr>
      </p:sp>
      <p:sp>
        <p:nvSpPr>
          <p:cNvPr id="19" name="Shape 14"/>
          <p:cNvSpPr/>
          <p:nvPr/>
        </p:nvSpPr>
        <p:spPr>
          <a:xfrm>
            <a:off x="7593211" y="4994910"/>
            <a:ext cx="556379" cy="556379"/>
          </a:xfrm>
          <a:prstGeom prst="roundRect">
            <a:avLst>
              <a:gd name="adj" fmla="val 16433197"/>
            </a:avLst>
          </a:prstGeom>
          <a:solidFill>
            <a:srgbClr val="C7A2A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46206" y="5147786"/>
            <a:ext cx="250388" cy="2503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93211" y="5736669"/>
            <a:ext cx="3701891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Competências Integradas</a:t>
            </a:r>
            <a:endParaRPr lang="en-US" sz="2600" dirty="0"/>
          </a:p>
        </p:txBody>
      </p:sp>
      <p:sp>
        <p:nvSpPr>
          <p:cNvPr id="22" name="Text 16"/>
          <p:cNvSpPr/>
          <p:nvPr/>
        </p:nvSpPr>
        <p:spPr>
          <a:xfrm>
            <a:off x="7593211" y="6264354"/>
            <a:ext cx="6202680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 que integra eletrónica, programação, mecânica e energia renovável numa solução mecatrónica completa.</a:t>
            </a:r>
            <a:endParaRPr lang="en-US" sz="14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7C904A-3119-8DE5-2FC2-1BCBB08523F5}"/>
              </a:ext>
            </a:extLst>
          </p:cNvPr>
          <p:cNvSpPr txBox="1"/>
          <p:nvPr/>
        </p:nvSpPr>
        <p:spPr>
          <a:xfrm>
            <a:off x="11649456" y="7571232"/>
            <a:ext cx="2980944" cy="65836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288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982164" y="3698200"/>
            <a:ext cx="6665952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OBRIGADA </a:t>
            </a:r>
            <a:endParaRPr lang="en-US" sz="5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B29FC4-8696-1F2C-D7C9-90331F0B029E}"/>
              </a:ext>
            </a:extLst>
          </p:cNvPr>
          <p:cNvSpPr txBox="1"/>
          <p:nvPr/>
        </p:nvSpPr>
        <p:spPr>
          <a:xfrm>
            <a:off x="11649456" y="7571232"/>
            <a:ext cx="2980944" cy="65836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1170</Words>
  <Application>Microsoft Office PowerPoint</Application>
  <PresentationFormat>Custom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Baskervville</vt:lpstr>
      <vt:lpstr>Poppins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Bruna Madeira</cp:lastModifiedBy>
  <cp:revision>2</cp:revision>
  <dcterms:created xsi:type="dcterms:W3CDTF">2026-04-16T15:34:15Z</dcterms:created>
  <dcterms:modified xsi:type="dcterms:W3CDTF">2026-04-17T07:49:55Z</dcterms:modified>
</cp:coreProperties>
</file>